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02920" cy="6793992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0" y="-914400"/>
            <a:ext cx="6217920" cy="6217920"/>
          </a:xfrm>
          <a:prstGeom prst="ellipse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-182880"/>
            <a:ext cx="4754880" cy="4754880"/>
          </a:xfrm>
          <a:prstGeom prst="ellipse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 Black" panose="020B0A04020102020204"/>
              </a:rPr>
              <a:t>IPL DATA ANALYSIS</a:t>
            </a:r>
            <a:endParaRPr sz="4400" b="1" i="0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C9B1"/>
                </a:solidFill>
                <a:latin typeface="Arial Black" panose="020B0A04020102020204"/>
              </a:rPr>
              <a:t>&amp; STRATEGY</a:t>
            </a:r>
            <a:endParaRPr sz="44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267004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B700"/>
                </a:solidFill>
                <a:latin typeface="Arial Black" panose="020B0A04020102020204"/>
              </a:rPr>
              <a:t>REPORT</a:t>
            </a:r>
            <a:endParaRPr sz="4400" b="1" i="0">
              <a:solidFill>
                <a:srgbClr val="FFB700"/>
              </a:solidFill>
              <a:latin typeface="Arial Black" panose="020B0A040201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3584448"/>
            <a:ext cx="438912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307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8F0"/>
                </a:solidFill>
                <a:latin typeface="Calibri"/>
              </a:rPr>
              <a:t>Royal Challengers Bangalore  ·  SQL Performance Analysis</a:t>
            </a:r>
            <a:endParaRPr sz="14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13308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A9AB8"/>
                </a:solidFill>
                <a:latin typeface="Calibri"/>
              </a:rPr>
              <a:t>Tushar Naha  ·  2026</a:t>
            </a:r>
            <a:endParaRPr sz="12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7240" y="5074920"/>
            <a:ext cx="2487168" cy="128016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074920"/>
            <a:ext cx="2487168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2487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9B1"/>
                </a:solidFill>
                <a:latin typeface="Arial Black" panose="020B0A04020102020204"/>
              </a:rPr>
              <a:t>4</a:t>
            </a:r>
            <a:endParaRPr sz="30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577900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B8"/>
                </a:solidFill>
                <a:latin typeface="Calibri"/>
              </a:rPr>
              <a:t>Seasons</a:t>
            </a:r>
            <a:endParaRPr sz="11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502152" y="5074920"/>
            <a:ext cx="2487168" cy="128016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02152" y="5074920"/>
            <a:ext cx="2487168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2152" y="5184648"/>
            <a:ext cx="2487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9B1"/>
                </a:solidFill>
                <a:latin typeface="Arial Black" panose="020B0A04020102020204"/>
              </a:rPr>
              <a:t>15</a:t>
            </a:r>
            <a:endParaRPr sz="30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02152" y="577900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B8"/>
                </a:solidFill>
                <a:latin typeface="Calibri"/>
              </a:rPr>
              <a:t>Obj. Queries</a:t>
            </a:r>
            <a:endParaRPr sz="11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27064" y="5074920"/>
            <a:ext cx="2487168" cy="128016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5074920"/>
            <a:ext cx="2487168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5184648"/>
            <a:ext cx="2487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9B1"/>
                </a:solidFill>
                <a:latin typeface="Arial Black" panose="020B0A04020102020204"/>
              </a:rPr>
              <a:t>10</a:t>
            </a:r>
            <a:endParaRPr sz="30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27064" y="577900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B8"/>
                </a:solidFill>
                <a:latin typeface="Calibri"/>
              </a:rPr>
              <a:t>Subj. Queries</a:t>
            </a:r>
            <a:endParaRPr sz="11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951976" y="5074920"/>
            <a:ext cx="2487168" cy="128016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51976" y="5074920"/>
            <a:ext cx="2487168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51976" y="5184648"/>
            <a:ext cx="2487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9B1"/>
                </a:solidFill>
                <a:latin typeface="Arial Black" panose="020B0A04020102020204"/>
              </a:rPr>
              <a:t>20+</a:t>
            </a:r>
            <a:endParaRPr sz="30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951976" y="577900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B8"/>
                </a:solidFill>
                <a:latin typeface="Calibri"/>
              </a:rPr>
              <a:t>Tables</a:t>
            </a:r>
            <a:endParaRPr sz="1100" b="0" i="0">
              <a:solidFill>
                <a:srgbClr val="9A9A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64592"/>
            <a:ext cx="105156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79"/>
            <a:ext cx="941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2E"/>
                </a:solidFill>
                <a:latin typeface="Arial" panose="020B0704020202020204"/>
              </a:rPr>
              <a:t>OVERVIEW</a:t>
            </a:r>
            <a:endParaRPr sz="800" b="1" i="0">
              <a:solidFill>
                <a:srgbClr val="1C1C2E"/>
              </a:solidFill>
              <a:latin typeface="Arial" panose="020B07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 panose="020B0A04020102020204"/>
              </a:rPr>
              <a:t>What's Inside</a:t>
            </a:r>
            <a:endParaRPr sz="2800" b="1" i="0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28016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5669280" cy="9144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64008" cy="914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  <a:latin typeface="Arial Black" panose="020B0A04020102020204"/>
              </a:rPr>
              <a:t>01</a:t>
            </a:r>
            <a:endParaRPr sz="13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alibri"/>
              </a:rPr>
              <a:t>Introduction &amp; Objectives</a:t>
            </a:r>
            <a:endParaRPr sz="13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73368" y="1371600"/>
            <a:ext cx="5669280" cy="9144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3368" y="1371600"/>
            <a:ext cx="64008" cy="9144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6459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  <a:latin typeface="Arial Black" panose="020B0A04020102020204"/>
              </a:rPr>
              <a:t>02</a:t>
            </a:r>
            <a:endParaRPr sz="1300" b="1" i="0">
              <a:solidFill>
                <a:srgbClr val="FFB700"/>
              </a:solidFill>
              <a:latin typeface="Arial Black" panose="020B0A040201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42048" y="16459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alibri"/>
              </a:rPr>
              <a:t>Database Overview — 20 Tables</a:t>
            </a:r>
            <a:endParaRPr sz="13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2441448"/>
            <a:ext cx="5669280" cy="9144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441448"/>
            <a:ext cx="64008" cy="914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7157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  <a:latin typeface="Arial Black" panose="020B0A04020102020204"/>
              </a:rPr>
              <a:t>03</a:t>
            </a:r>
            <a:endParaRPr sz="13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71600" y="27157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alibri"/>
              </a:rPr>
              <a:t>Methodology — 8 Step Framework</a:t>
            </a:r>
            <a:endParaRPr sz="13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73368" y="2441448"/>
            <a:ext cx="5669280" cy="9144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73368" y="2441448"/>
            <a:ext cx="64008" cy="9144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27157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  <a:latin typeface="Arial Black" panose="020B0A04020102020204"/>
              </a:rPr>
              <a:t>04</a:t>
            </a:r>
            <a:endParaRPr sz="1300" b="1" i="0">
              <a:solidFill>
                <a:srgbClr val="FFB700"/>
              </a:solidFill>
              <a:latin typeface="Arial Black" panose="020B0A040201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42048" y="27157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alibri"/>
              </a:rPr>
              <a:t>Objective Queries Q1–Q15</a:t>
            </a:r>
            <a:endParaRPr sz="13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02920" y="3511296"/>
            <a:ext cx="5669280" cy="9144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511296"/>
            <a:ext cx="64008" cy="914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785615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  <a:latin typeface="Arial Black" panose="020B0A04020102020204"/>
              </a:rPr>
              <a:t>05</a:t>
            </a:r>
            <a:endParaRPr sz="13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71600" y="3785615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alibri"/>
              </a:rPr>
              <a:t>Batting Performance Insights</a:t>
            </a:r>
            <a:endParaRPr sz="13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73368" y="3511296"/>
            <a:ext cx="5669280" cy="9144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73368" y="3511296"/>
            <a:ext cx="64008" cy="9144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3785615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  <a:latin typeface="Arial Black" panose="020B0A04020102020204"/>
              </a:rPr>
              <a:t>06</a:t>
            </a:r>
            <a:endParaRPr sz="1300" b="1" i="0">
              <a:solidFill>
                <a:srgbClr val="FFB700"/>
              </a:solidFill>
              <a:latin typeface="Arial Black" panose="020B0A040201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242048" y="3785615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alibri"/>
              </a:rPr>
              <a:t>Bowling &amp; All-Rounder Analysis</a:t>
            </a:r>
            <a:endParaRPr sz="13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02920" y="4581144"/>
            <a:ext cx="5669280" cy="9144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581144"/>
            <a:ext cx="64008" cy="914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85546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  <a:latin typeface="Arial Black" panose="020B0A04020102020204"/>
              </a:rPr>
              <a:t>07</a:t>
            </a:r>
            <a:endParaRPr sz="13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71600" y="485546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alibri"/>
              </a:rPr>
              <a:t>Home Ground &amp; Toss Analysis</a:t>
            </a:r>
            <a:endParaRPr sz="13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373368" y="4581144"/>
            <a:ext cx="5669280" cy="9144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73368" y="4581144"/>
            <a:ext cx="64008" cy="9144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485546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  <a:latin typeface="Arial Black" panose="020B0A04020102020204"/>
              </a:rPr>
              <a:t>08</a:t>
            </a:r>
            <a:endParaRPr sz="1300" b="1" i="0">
              <a:solidFill>
                <a:srgbClr val="FFB700"/>
              </a:solidFill>
              <a:latin typeface="Arial Black" panose="020B0A0402010202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242048" y="485546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alibri"/>
              </a:rPr>
              <a:t>Advanced KPIs — 5 Metrics</a:t>
            </a:r>
            <a:endParaRPr sz="13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02920" y="5650992"/>
            <a:ext cx="5669280" cy="9144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650992"/>
            <a:ext cx="64008" cy="914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92531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  <a:latin typeface="Arial Black" panose="020B0A04020102020204"/>
              </a:rPr>
              <a:t>09</a:t>
            </a:r>
            <a:endParaRPr sz="13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371600" y="592531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alibri"/>
              </a:rPr>
              <a:t>RCB Season Performance</a:t>
            </a:r>
            <a:endParaRPr sz="13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373368" y="5650992"/>
            <a:ext cx="5669280" cy="9144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73368" y="5650992"/>
            <a:ext cx="64008" cy="9144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56248" y="592531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  <a:latin typeface="Arial Black" panose="020B0A04020102020204"/>
              </a:rPr>
              <a:t>10</a:t>
            </a:r>
            <a:endParaRPr sz="1300" b="1" i="0">
              <a:solidFill>
                <a:srgbClr val="FFB700"/>
              </a:solidFill>
              <a:latin typeface="Arial Black" panose="020B0A0402010202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242048" y="592531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alibri"/>
              </a:rPr>
              <a:t>Auction Strategy &amp; Recommendations</a:t>
            </a:r>
            <a:endParaRPr sz="1300" b="0" i="0">
              <a:solidFill>
                <a:srgbClr val="E8E8F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64592"/>
            <a:ext cx="141732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79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2E"/>
                </a:solidFill>
                <a:latin typeface="Arial" panose="020B0704020202020204"/>
              </a:rPr>
              <a:t>INTRODUCTION</a:t>
            </a:r>
            <a:endParaRPr sz="800" b="1" i="0">
              <a:solidFill>
                <a:srgbClr val="1C1C2E"/>
              </a:solidFill>
              <a:latin typeface="Arial" panose="020B07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 panose="020B0A04020102020204"/>
              </a:rPr>
              <a:t>About This Project</a:t>
            </a:r>
            <a:endParaRPr sz="2800" b="1" i="0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280160" cy="457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8F0"/>
                </a:solidFill>
                <a:latin typeface="Calibri"/>
              </a:rPr>
              <a:t>Royal Challengers Bangalore — the most electrifying yet trophy-less franchise in IPL history. This project uses SQL to extract, analyze and visualize performance data across 4 seasons (2013–2016), uncovering key patterns and providing 6 specific data-driven recommendations to finally help RCB win that championship.</a:t>
            </a:r>
            <a:endParaRPr sz="14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2651760"/>
            <a:ext cx="3611880" cy="3822191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651760"/>
            <a:ext cx="361188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2880360"/>
            <a:ext cx="868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🏏</a:t>
            </a:r>
            <a:endParaRPr sz="32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37033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  <a:latin typeface="Calibri"/>
              </a:rPr>
              <a:t>Player Analysis</a:t>
            </a:r>
            <a:endParaRPr sz="14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B8"/>
                </a:solidFill>
                <a:latin typeface="Calibri"/>
              </a:rPr>
              <a:t>Strike rates, averages, wickets &amp; economy — ranked across all 4 seasons</a:t>
            </a:r>
            <a:endParaRPr sz="12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43400" y="2651760"/>
            <a:ext cx="3611880" cy="3822191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651760"/>
            <a:ext cx="3611880" cy="6400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2880360"/>
            <a:ext cx="868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🏟️</a:t>
            </a:r>
            <a:endParaRPr sz="32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26280" y="37033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00"/>
                </a:solidFill>
                <a:latin typeface="Calibri"/>
              </a:rPr>
              <a:t>Team Strategy</a:t>
            </a:r>
            <a:endParaRPr sz="1400" b="1" i="0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26280" y="416052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B8"/>
                </a:solidFill>
                <a:latin typeface="Calibri"/>
              </a:rPr>
              <a:t>Home advantage, toss decisions, venue splits — every matchup dissected</a:t>
            </a:r>
            <a:endParaRPr sz="12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183880" y="2651760"/>
            <a:ext cx="3611880" cy="3822191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2651760"/>
            <a:ext cx="3611880" cy="64008"/>
          </a:xfrm>
          <a:prstGeom prst="rect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880360"/>
            <a:ext cx="868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⚡</a:t>
            </a:r>
            <a:endParaRPr sz="32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66760" y="37033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D97F"/>
                </a:solidFill>
                <a:latin typeface="Calibri"/>
              </a:rPr>
              <a:t>Auction Intelligence</a:t>
            </a:r>
            <a:endParaRPr sz="1400" b="1" i="0">
              <a:solidFill>
                <a:srgbClr val="4CD97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66760" y="416052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B8"/>
                </a:solidFill>
                <a:latin typeface="Calibri"/>
              </a:rPr>
              <a:t>6 data-backed recommendations to build a championship squad</a:t>
            </a:r>
            <a:endParaRPr sz="1200" b="0" i="0">
              <a:solidFill>
                <a:srgbClr val="9A9A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64592"/>
            <a:ext cx="68580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79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2E"/>
                </a:solidFill>
                <a:latin typeface="Arial" panose="020B0704020202020204"/>
              </a:rPr>
              <a:t>DATA</a:t>
            </a:r>
            <a:endParaRPr sz="800" b="1" i="0">
              <a:solidFill>
                <a:srgbClr val="1C1C2E"/>
              </a:solidFill>
              <a:latin typeface="Arial" panose="020B07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 panose="020B0A04020102020204"/>
              </a:rPr>
              <a:t>Database Overview — 20 Tables</a:t>
            </a:r>
            <a:endParaRPr sz="2800" b="1" i="0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28016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325880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2368296"/>
            <a:ext cx="2231136" cy="14630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417320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Ball_by_Ball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3776" y="1783080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Core delivery fact table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70048" y="1325880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70048" y="2368296"/>
            <a:ext cx="2231136" cy="14630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1417320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Matches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79776" y="1783080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Match results &amp; details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56048" y="1325880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6048" y="2368296"/>
            <a:ext cx="2231136" cy="146304"/>
          </a:xfrm>
          <a:prstGeom prst="rect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65776" y="1417320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Player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65776" y="1783080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Player profiles &amp; DOB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242048" y="1325880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42048" y="2368296"/>
            <a:ext cx="2231136" cy="146304"/>
          </a:xfrm>
          <a:prstGeom prst="rect">
            <a:avLst/>
          </a:prstGeom>
          <a:solidFill>
            <a:srgbClr val="B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1417320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Team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1775" y="1783080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Team names &amp; IDs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528048" y="1325880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28048" y="2368296"/>
            <a:ext cx="2231136" cy="14630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37776" y="1417320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Season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37776" y="1783080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Season years 2013-16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84048" y="2569464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3611880"/>
            <a:ext cx="2231136" cy="14630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2660904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Venue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3776" y="3026664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Ground names &amp; cities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70048" y="2569464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70048" y="3611880"/>
            <a:ext cx="2231136" cy="14630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79776" y="2660904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Wicket_Taken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79776" y="3026664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Every dismissal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956048" y="2569464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56048" y="3611880"/>
            <a:ext cx="2231136" cy="146304"/>
          </a:xfrm>
          <a:prstGeom prst="rect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65776" y="2660904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Extra_Runs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65776" y="3026664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Wides, no-balls, byes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242048" y="2569464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42048" y="3611880"/>
            <a:ext cx="2231136" cy="146304"/>
          </a:xfrm>
          <a:prstGeom prst="rect">
            <a:avLst/>
          </a:prstGeom>
          <a:solidFill>
            <a:srgbClr val="B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51775" y="2660904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Player_Match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351775" y="3026664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Player-match links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528048" y="2569464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28048" y="3611880"/>
            <a:ext cx="2231136" cy="14630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37776" y="2660904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Batting_Style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637776" y="3026664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Batting style codes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84048" y="3813048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4048" y="4855464"/>
            <a:ext cx="2231136" cy="14630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3776" y="3904487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Bowling_Style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93776" y="4270248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Bowling style codes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670048" y="3813048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670048" y="4855464"/>
            <a:ext cx="2231136" cy="14630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79776" y="3904487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City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779776" y="4270248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City reference data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956048" y="3813048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56048" y="4855464"/>
            <a:ext cx="2231136" cy="146304"/>
          </a:xfrm>
          <a:prstGeom prst="rect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65776" y="3904487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Country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065776" y="4270248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Country reference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242048" y="3813048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242048" y="4855464"/>
            <a:ext cx="2231136" cy="146304"/>
          </a:xfrm>
          <a:prstGeom prst="rect">
            <a:avLst/>
          </a:prstGeom>
          <a:solidFill>
            <a:srgbClr val="B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51775" y="3904487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Out_Type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351775" y="4270248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How player got out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528048" y="3813048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528048" y="4855464"/>
            <a:ext cx="2231136" cy="14630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37776" y="3904487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Outcome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637776" y="4270248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Match outcome type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384048" y="5056632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84048" y="6099048"/>
            <a:ext cx="2231136" cy="14630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3776" y="5148072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Rolee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93776" y="5513832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Player role codes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2670048" y="5056632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670048" y="6099048"/>
            <a:ext cx="2231136" cy="14630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79776" y="5148072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Toss_Decision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779776" y="5513832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Bat or field choice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956048" y="5056632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956048" y="6099048"/>
            <a:ext cx="2231136" cy="146304"/>
          </a:xfrm>
          <a:prstGeom prst="rect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65776" y="5148072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Umpire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065776" y="5513832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Umpire names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7242048" y="5056632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242048" y="6099048"/>
            <a:ext cx="2231136" cy="146304"/>
          </a:xfrm>
          <a:prstGeom prst="rect">
            <a:avLst/>
          </a:prstGeom>
          <a:solidFill>
            <a:srgbClr val="B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51775" y="5148072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Win_By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351775" y="5513832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Runs or wickets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9528048" y="5056632"/>
            <a:ext cx="2231136" cy="11887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528048" y="6099048"/>
            <a:ext cx="2231136" cy="14630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637776" y="5148072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Extra_Type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637776" y="5513832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Wide/no-ball type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64592"/>
            <a:ext cx="132588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79"/>
            <a:ext cx="1216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2E"/>
                </a:solidFill>
                <a:latin typeface="Arial" panose="020B0704020202020204"/>
              </a:rPr>
              <a:t>METHODOLOGY</a:t>
            </a:r>
            <a:endParaRPr sz="800" b="1" i="0">
              <a:solidFill>
                <a:srgbClr val="1C1C2E"/>
              </a:solidFill>
              <a:latin typeface="Arial" panose="020B07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 panose="020B0A04020102020204"/>
              </a:rPr>
              <a:t>8-Step Analysis Framework</a:t>
            </a:r>
            <a:endParaRPr sz="2800" b="1" i="0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280160" cy="457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325880"/>
            <a:ext cx="2724912" cy="2176272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1207" y="1490472"/>
            <a:ext cx="475488" cy="475488"/>
          </a:xfrm>
          <a:prstGeom prst="ellipse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15087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C2E"/>
                </a:solidFill>
                <a:latin typeface="Arial Black" panose="020B0A04020102020204"/>
              </a:rPr>
              <a:t>1</a:t>
            </a:r>
            <a:endParaRPr sz="1300" b="1" i="0">
              <a:solidFill>
                <a:srgbClr val="1C1C2E"/>
              </a:solidFill>
              <a:latin typeface="Arial Black" panose="020B0A040201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1207" y="2103120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Define Business Problem</a:t>
            </a:r>
            <a:endParaRPr sz="11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1207" y="2560320"/>
            <a:ext cx="2496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B8"/>
                </a:solidFill>
                <a:latin typeface="Calibri"/>
              </a:rPr>
              <a:t>Frame: How can RCB use IPL data to win?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46120" y="1325880"/>
            <a:ext cx="2724912" cy="2176272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83279" y="1490472"/>
            <a:ext cx="475488" cy="475488"/>
          </a:xfrm>
          <a:prstGeom prst="ellipse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79" y="15087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C2E"/>
                </a:solidFill>
                <a:latin typeface="Arial Black" panose="020B0A04020102020204"/>
              </a:rPr>
              <a:t>2</a:t>
            </a:r>
            <a:endParaRPr sz="1300" b="1" i="0">
              <a:solidFill>
                <a:srgbClr val="1C1C2E"/>
              </a:solidFill>
              <a:latin typeface="Arial Black" panose="020B0A040201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83279" y="2103120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Explore Data Structure</a:t>
            </a:r>
            <a:endParaRPr sz="11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83279" y="2560320"/>
            <a:ext cx="2496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B8"/>
                </a:solidFill>
                <a:latin typeface="Calibri"/>
              </a:rPr>
              <a:t>SHOW TABLES + DESCRIBE all 20 tables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08192" y="1325880"/>
            <a:ext cx="2724912" cy="2176272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45352" y="1490472"/>
            <a:ext cx="475488" cy="475488"/>
          </a:xfrm>
          <a:prstGeom prst="ellipse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15087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C2E"/>
                </a:solidFill>
                <a:latin typeface="Arial Black" panose="020B0A04020102020204"/>
              </a:rPr>
              <a:t>3</a:t>
            </a:r>
            <a:endParaRPr sz="1300" b="1" i="0">
              <a:solidFill>
                <a:srgbClr val="1C1C2E"/>
              </a:solidFill>
              <a:latin typeface="Arial Black" panose="020B0A040201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45352" y="2103120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Identify Key Areas</a:t>
            </a:r>
            <a:endParaRPr sz="11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45352" y="2560320"/>
            <a:ext cx="2496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B8"/>
                </a:solidFill>
                <a:latin typeface="Calibri"/>
              </a:rPr>
              <a:t>Batting, Bowling, Venues, KPIs, Auction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970264" y="1325880"/>
            <a:ext cx="2724912" cy="2176272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07424" y="1490472"/>
            <a:ext cx="475488" cy="475488"/>
          </a:xfrm>
          <a:prstGeom prst="ellipse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07424" y="15087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C2E"/>
                </a:solidFill>
                <a:latin typeface="Arial Black" panose="020B0A04020102020204"/>
              </a:rPr>
              <a:t>4</a:t>
            </a:r>
            <a:endParaRPr sz="1300" b="1" i="0">
              <a:solidFill>
                <a:srgbClr val="1C1C2E"/>
              </a:solidFill>
              <a:latin typeface="Arial Black" panose="020B0A040201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07424" y="2103120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Write SQL Queries</a:t>
            </a:r>
            <a:endParaRPr sz="11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07424" y="2560320"/>
            <a:ext cx="2496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B8"/>
                </a:solidFill>
                <a:latin typeface="Calibri"/>
              </a:rPr>
              <a:t>15 objective + 10 subjective queries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84048" y="3611880"/>
            <a:ext cx="2724912" cy="2176272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21207" y="3776472"/>
            <a:ext cx="475488" cy="475488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7" y="37947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C2E"/>
                </a:solidFill>
                <a:latin typeface="Arial Black" panose="020B0A04020102020204"/>
              </a:rPr>
              <a:t>5</a:t>
            </a:r>
            <a:endParaRPr sz="1300" b="1" i="0">
              <a:solidFill>
                <a:srgbClr val="1C1C2E"/>
              </a:solidFill>
              <a:latin typeface="Arial Black" panose="020B0A040201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1207" y="4389120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0"/>
                </a:solidFill>
                <a:latin typeface="Calibri"/>
              </a:rPr>
              <a:t>Derive Advanced KPIs</a:t>
            </a:r>
            <a:endParaRPr sz="1100" b="1" i="0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1207" y="4846320"/>
            <a:ext cx="2496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B8"/>
                </a:solidFill>
                <a:latin typeface="Calibri"/>
              </a:rPr>
              <a:t>Powerplay, Death overs, Economy, Dot ball%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46120" y="3611880"/>
            <a:ext cx="2724912" cy="2176272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383279" y="3776472"/>
            <a:ext cx="475488" cy="475488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7947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C2E"/>
                </a:solidFill>
                <a:latin typeface="Arial Black" panose="020B0A04020102020204"/>
              </a:rPr>
              <a:t>6</a:t>
            </a:r>
            <a:endParaRPr sz="1300" b="1" i="0">
              <a:solidFill>
                <a:srgbClr val="1C1C2E"/>
              </a:solidFill>
              <a:latin typeface="Arial Black" panose="020B0A040201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83279" y="4389120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0"/>
                </a:solidFill>
                <a:latin typeface="Calibri"/>
              </a:rPr>
              <a:t>Visualize Findings</a:t>
            </a:r>
            <a:endParaRPr sz="1100" b="1" i="0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383279" y="4846320"/>
            <a:ext cx="2496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B8"/>
                </a:solidFill>
                <a:latin typeface="Calibri"/>
              </a:rPr>
              <a:t>Bar, Line &amp; Pie charts in WPS Spreadsheet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108192" y="3611880"/>
            <a:ext cx="2724912" cy="2176272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45352" y="3776472"/>
            <a:ext cx="475488" cy="475488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5352" y="37947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C2E"/>
                </a:solidFill>
                <a:latin typeface="Arial Black" panose="020B0A04020102020204"/>
              </a:rPr>
              <a:t>7</a:t>
            </a:r>
            <a:endParaRPr sz="1300" b="1" i="0">
              <a:solidFill>
                <a:srgbClr val="1C1C2E"/>
              </a:solidFill>
              <a:latin typeface="Arial Black" panose="020B0A0402010202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45352" y="4389120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0"/>
                </a:solidFill>
                <a:latin typeface="Calibri"/>
              </a:rPr>
              <a:t>Validate Insights</a:t>
            </a:r>
            <a:endParaRPr sz="1100" b="1" i="0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45352" y="4846320"/>
            <a:ext cx="2496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B8"/>
                </a:solidFill>
                <a:latin typeface="Calibri"/>
              </a:rPr>
              <a:t>Cross-check each finding from multiple angles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970264" y="3611880"/>
            <a:ext cx="2724912" cy="2176272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07424" y="3776472"/>
            <a:ext cx="475488" cy="475488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07424" y="37947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C2E"/>
                </a:solidFill>
                <a:latin typeface="Arial Black" panose="020B0A04020102020204"/>
              </a:rPr>
              <a:t>8</a:t>
            </a:r>
            <a:endParaRPr sz="1300" b="1" i="0">
              <a:solidFill>
                <a:srgbClr val="1C1C2E"/>
              </a:solidFill>
              <a:latin typeface="Arial Black" panose="020B0A0402010202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107424" y="4389120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0"/>
                </a:solidFill>
                <a:latin typeface="Calibri"/>
              </a:rPr>
              <a:t>Build Recommendations</a:t>
            </a:r>
            <a:endParaRPr sz="1100" b="1" i="0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107424" y="4846320"/>
            <a:ext cx="2496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B8"/>
                </a:solidFill>
                <a:latin typeface="Calibri"/>
              </a:rPr>
              <a:t>6 specific data-driven auction strategies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64592"/>
            <a:ext cx="187452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79"/>
            <a:ext cx="1764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2E"/>
                </a:solidFill>
                <a:latin typeface="Arial" panose="020B0704020202020204"/>
              </a:rPr>
              <a:t>OBJECTIVE QUERIES</a:t>
            </a:r>
            <a:endParaRPr sz="800" b="1" i="0">
              <a:solidFill>
                <a:srgbClr val="1C1C2E"/>
              </a:solidFill>
              <a:latin typeface="Arial" panose="020B07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 panose="020B0A04020102020204"/>
              </a:rPr>
              <a:t>Q1 – Q15 at a Glance</a:t>
            </a:r>
            <a:endParaRPr sz="2800" b="1" i="0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28016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325880"/>
            <a:ext cx="2231136" cy="14630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325880"/>
            <a:ext cx="2231136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4630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Arial Black" panose="020B0A04020102020204"/>
              </a:rPr>
              <a:t>Q1</a:t>
            </a:r>
            <a:endParaRPr sz="12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3776" y="1828800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Data Types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3776" y="2194560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ALL 11 cols = INT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679191" y="1325880"/>
            <a:ext cx="2231136" cy="14630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79191" y="1325880"/>
            <a:ext cx="2231136" cy="6400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14630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0"/>
                </a:solidFill>
                <a:latin typeface="Arial Black" panose="020B0A04020102020204"/>
              </a:rPr>
              <a:t>Q2</a:t>
            </a:r>
            <a:endParaRPr sz="1200" b="1" i="0">
              <a:solidFill>
                <a:srgbClr val="FFB700"/>
              </a:solidFill>
              <a:latin typeface="Arial Black" panose="020B0A040201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88920" y="1828800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RCB Season 1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88920" y="2194560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2601 total runs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974336" y="1325880"/>
            <a:ext cx="2231136" cy="14630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74336" y="1325880"/>
            <a:ext cx="2231136" cy="64008"/>
          </a:xfrm>
          <a:prstGeom prst="rect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14630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D97F"/>
                </a:solidFill>
                <a:latin typeface="Arial Black" panose="020B0A04020102020204"/>
              </a:rPr>
              <a:t>Q3</a:t>
            </a:r>
            <a:endParaRPr sz="1200" b="1" i="0">
              <a:solidFill>
                <a:srgbClr val="4CD97F"/>
              </a:solidFill>
              <a:latin typeface="Arial Black" panose="020B0A040201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84064" y="1828800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Age Analysis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84064" y="2194560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92 players &gt;25 in 2014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269479" y="1325880"/>
            <a:ext cx="2231136" cy="14630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9479" y="1325880"/>
            <a:ext cx="2231136" cy="64008"/>
          </a:xfrm>
          <a:prstGeom prst="rect">
            <a:avLst/>
          </a:prstGeom>
          <a:solidFill>
            <a:srgbClr val="B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9207" y="14630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7FFF"/>
                </a:solidFill>
                <a:latin typeface="Arial Black" panose="020B0A04020102020204"/>
              </a:rPr>
              <a:t>Q4</a:t>
            </a:r>
            <a:endParaRPr sz="1200" b="1" i="0">
              <a:solidFill>
                <a:srgbClr val="B07FFF"/>
              </a:solidFill>
              <a:latin typeface="Arial Black" panose="020B0A040201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79207" y="1828800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RCB Wins 2013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79207" y="2194560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9 wins — 56.25%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564624" y="1325880"/>
            <a:ext cx="2231136" cy="14630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4624" y="1325880"/>
            <a:ext cx="2231136" cy="6400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4351" y="14630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45"/>
                </a:solidFill>
                <a:latin typeface="Arial Black" panose="020B0A04020102020204"/>
              </a:rPr>
              <a:t>Q5</a:t>
            </a:r>
            <a:endParaRPr sz="1200" b="1" i="0">
              <a:solidFill>
                <a:srgbClr val="FF4545"/>
              </a:solidFill>
              <a:latin typeface="Arial Black" panose="020B0A040201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74351" y="1828800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Strike Rates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674351" y="2194560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ABD leads: 164.27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84048" y="2852928"/>
            <a:ext cx="2231136" cy="14630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4048" y="2852928"/>
            <a:ext cx="2231136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" y="2990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Arial Black" panose="020B0A04020102020204"/>
              </a:rPr>
              <a:t>Q6</a:t>
            </a:r>
            <a:endParaRPr sz="12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93776" y="3355848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Avg Runs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93776" y="3721608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Simmons: 42.82/match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679191" y="2852928"/>
            <a:ext cx="2231136" cy="14630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79191" y="2852928"/>
            <a:ext cx="2231136" cy="6400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2990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0"/>
                </a:solidFill>
                <a:latin typeface="Arial Black" panose="020B0A04020102020204"/>
              </a:rPr>
              <a:t>Q7</a:t>
            </a:r>
            <a:endParaRPr sz="1200" b="1" i="0">
              <a:solidFill>
                <a:srgbClr val="FFB700"/>
              </a:solidFill>
              <a:latin typeface="Arial Black" panose="020B0A0402010202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88920" y="3355848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Avg Wickets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788920" y="3721608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Bravo: 1.65/match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974336" y="2852928"/>
            <a:ext cx="2231136" cy="14630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74336" y="2852928"/>
            <a:ext cx="2231136" cy="64008"/>
          </a:xfrm>
          <a:prstGeom prst="rect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84064" y="2990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D97F"/>
                </a:solidFill>
                <a:latin typeface="Arial Black" panose="020B0A04020102020204"/>
              </a:rPr>
              <a:t>Q8</a:t>
            </a:r>
            <a:endParaRPr sz="1200" b="1" i="0">
              <a:solidFill>
                <a:srgbClr val="4CD97F"/>
              </a:solidFill>
              <a:latin typeface="Arial Black" panose="020B0A0402010202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84064" y="3355848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All-Rounders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84064" y="3721608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23 players qualify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269479" y="2852928"/>
            <a:ext cx="2231136" cy="14630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269479" y="2852928"/>
            <a:ext cx="2231136" cy="64008"/>
          </a:xfrm>
          <a:prstGeom prst="rect">
            <a:avLst/>
          </a:prstGeom>
          <a:solidFill>
            <a:srgbClr val="B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207" y="2990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7FFF"/>
                </a:solidFill>
                <a:latin typeface="Arial Black" panose="020B0A04020102020204"/>
              </a:rPr>
              <a:t>Q9</a:t>
            </a:r>
            <a:endParaRPr sz="1200" b="1" i="0">
              <a:solidFill>
                <a:srgbClr val="B07FFF"/>
              </a:solidFill>
              <a:latin typeface="Arial Black" panose="020B0A0402010202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79207" y="3355848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Venue Table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379207" y="3721608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CREATE rcb_record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564624" y="2852928"/>
            <a:ext cx="2231136" cy="14630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564624" y="2852928"/>
            <a:ext cx="2231136" cy="6400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74351" y="2990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45"/>
                </a:solidFill>
                <a:latin typeface="Arial Black" panose="020B0A04020102020204"/>
              </a:rPr>
              <a:t>Q10</a:t>
            </a:r>
            <a:endParaRPr sz="1200" b="1" i="0">
              <a:solidFill>
                <a:srgbClr val="FF4545"/>
              </a:solidFill>
              <a:latin typeface="Arial Black" panose="020B0A0402010202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674351" y="3355848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Bowl Style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674351" y="3721608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RA Med: 617 wickets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84048" y="4379976"/>
            <a:ext cx="2231136" cy="14630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84048" y="4379976"/>
            <a:ext cx="2231136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3776" y="45171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Arial Black" panose="020B0A04020102020204"/>
              </a:rPr>
              <a:t>Q11</a:t>
            </a:r>
            <a:endParaRPr sz="12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93776" y="488289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YoY Trend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93776" y="5248656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LAG window function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2679191" y="4379976"/>
            <a:ext cx="2231136" cy="14630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679191" y="4379976"/>
            <a:ext cx="2231136" cy="6400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88920" y="45171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0"/>
                </a:solidFill>
                <a:latin typeface="Arial Black" panose="020B0A04020102020204"/>
              </a:rPr>
              <a:t>Q12</a:t>
            </a:r>
            <a:endParaRPr sz="1200" b="1" i="0">
              <a:solidFill>
                <a:srgbClr val="FFB700"/>
              </a:solidFill>
              <a:latin typeface="Arial Black" panose="020B0A0402010202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788920" y="488289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5 KPIs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788920" y="5248656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Powerplay → Boundary%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974336" y="4379976"/>
            <a:ext cx="2231136" cy="14630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974336" y="4379976"/>
            <a:ext cx="2231136" cy="64008"/>
          </a:xfrm>
          <a:prstGeom prst="rect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84064" y="45171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D97F"/>
                </a:solidFill>
                <a:latin typeface="Arial Black" panose="020B0A04020102020204"/>
              </a:rPr>
              <a:t>Q13</a:t>
            </a:r>
            <a:endParaRPr sz="1200" b="1" i="0">
              <a:solidFill>
                <a:srgbClr val="4CD97F"/>
              </a:solidFill>
              <a:latin typeface="Arial Black" panose="020B0A040201020202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084064" y="488289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Bowler Rank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084064" y="5248656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DENSE_RANK by venue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7269479" y="4379976"/>
            <a:ext cx="2231136" cy="14630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269479" y="4379976"/>
            <a:ext cx="2231136" cy="64008"/>
          </a:xfrm>
          <a:prstGeom prst="rect">
            <a:avLst/>
          </a:prstGeom>
          <a:solidFill>
            <a:srgbClr val="B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79207" y="45171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7FFF"/>
                </a:solidFill>
                <a:latin typeface="Arial Black" panose="020B0A04020102020204"/>
              </a:rPr>
              <a:t>Q14</a:t>
            </a:r>
            <a:endParaRPr sz="1200" b="1" i="0">
              <a:solidFill>
                <a:srgbClr val="B07FFF"/>
              </a:solidFill>
              <a:latin typeface="Arial Black" panose="020B0A04020102020204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379207" y="488289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Consistency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379207" y="5248656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RG Sharma range: 148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564624" y="4379976"/>
            <a:ext cx="2231136" cy="14630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564624" y="4379976"/>
            <a:ext cx="2231136" cy="6400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74351" y="45171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45"/>
                </a:solidFill>
                <a:latin typeface="Arial Black" panose="020B0A04020102020204"/>
              </a:rPr>
              <a:t>Q15</a:t>
            </a:r>
            <a:endParaRPr sz="1200" b="1" i="0">
              <a:solidFill>
                <a:srgbClr val="FF4545"/>
              </a:solidFill>
              <a:latin typeface="Arial Black" panose="020B0A040201020202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674351" y="488289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Venue Spec.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674351" y="5248656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ABD: 35.81 at Chinnas.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64592"/>
            <a:ext cx="96012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79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2E"/>
                </a:solidFill>
                <a:latin typeface="Arial" panose="020B0704020202020204"/>
              </a:rPr>
              <a:t>BATTING</a:t>
            </a:r>
            <a:endParaRPr sz="800" b="1" i="0">
              <a:solidFill>
                <a:srgbClr val="1C1C2E"/>
              </a:solidFill>
              <a:latin typeface="Arial" panose="020B07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 panose="020B0A04020102020204"/>
              </a:rPr>
              <a:t>Top Batsmen — Strike Rate &amp; Averages</a:t>
            </a:r>
            <a:endParaRPr sz="2800" b="1" i="0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28016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261872"/>
            <a:ext cx="45720" cy="544068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Top 10 Strike Rates  (Last 4 Seasons, min 200 balls)</a:t>
            </a:r>
            <a:endParaRPr sz="11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4349229" cy="2926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7739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AB de Villiers</a:t>
            </a:r>
            <a:endParaRPr sz="8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07013" y="177393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164.27</a:t>
            </a:r>
            <a:endParaRPr sz="9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2194560"/>
            <a:ext cx="4184294" cy="292608"/>
          </a:xfrm>
          <a:prstGeom prst="rect">
            <a:avLst/>
          </a:prstGeom>
          <a:solidFill>
            <a:srgbClr val="00A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311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AD Russell</a:t>
            </a:r>
            <a:endParaRPr sz="8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42078" y="223113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163.16</a:t>
            </a:r>
            <a:endParaRPr sz="9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2651760"/>
            <a:ext cx="3209543" cy="292608"/>
          </a:xfrm>
          <a:prstGeom prst="rect">
            <a:avLst/>
          </a:prstGeom>
          <a:solidFill>
            <a:srgbClr val="00A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6883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GJ Maxwell</a:t>
            </a:r>
            <a:endParaRPr sz="8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67327" y="268833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156.6</a:t>
            </a:r>
            <a:endParaRPr sz="9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3108960"/>
            <a:ext cx="1167917" cy="292608"/>
          </a:xfrm>
          <a:prstGeom prst="rect">
            <a:avLst/>
          </a:prstGeom>
          <a:solidFill>
            <a:srgbClr val="00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1455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KA Pollard</a:t>
            </a:r>
            <a:endParaRPr sz="8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25701" y="314553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142.86</a:t>
            </a:r>
            <a:endParaRPr sz="9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3566160"/>
            <a:ext cx="958405" cy="292608"/>
          </a:xfrm>
          <a:prstGeom prst="rect">
            <a:avLst/>
          </a:prstGeom>
          <a:solidFill>
            <a:srgbClr val="00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6027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DA Miller</a:t>
            </a:r>
            <a:endParaRPr sz="8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16189" y="360273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141.45</a:t>
            </a:r>
            <a:endParaRPr sz="9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02920" y="4023360"/>
            <a:ext cx="882624" cy="292608"/>
          </a:xfrm>
          <a:prstGeom prst="rect">
            <a:avLst/>
          </a:prstGeom>
          <a:solidFill>
            <a:srgbClr val="00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0599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DA Warner</a:t>
            </a:r>
            <a:endParaRPr sz="8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40408" y="405993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140.94</a:t>
            </a:r>
            <a:endParaRPr sz="9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02920" y="4480560"/>
            <a:ext cx="638937" cy="292608"/>
          </a:xfrm>
          <a:prstGeom prst="rect">
            <a:avLst/>
          </a:prstGeom>
          <a:solidFill>
            <a:srgbClr val="00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5171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NLTC Perera</a:t>
            </a:r>
            <a:endParaRPr sz="8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96721" y="451713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139.3</a:t>
            </a:r>
            <a:endParaRPr sz="9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02920" y="4937760"/>
            <a:ext cx="635965" cy="292608"/>
          </a:xfrm>
          <a:prstGeom prst="rect">
            <a:avLst/>
          </a:prstGeom>
          <a:solidFill>
            <a:srgbClr val="00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9743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YK Pathan</a:t>
            </a:r>
            <a:endParaRPr sz="8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93749" y="497433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139.28</a:t>
            </a:r>
            <a:endParaRPr sz="9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02920" y="5394960"/>
            <a:ext cx="482917" cy="292608"/>
          </a:xfrm>
          <a:prstGeom prst="rect">
            <a:avLst/>
          </a:prstGeom>
          <a:solidFill>
            <a:srgbClr val="00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54315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JP Faulkner</a:t>
            </a:r>
            <a:endParaRPr sz="8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40701" y="543153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138.25</a:t>
            </a:r>
            <a:endParaRPr sz="9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02920" y="5852160"/>
            <a:ext cx="361073" cy="292608"/>
          </a:xfrm>
          <a:prstGeom prst="rect">
            <a:avLst/>
          </a:prstGeom>
          <a:solidFill>
            <a:srgbClr val="00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58887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CH Gayle</a:t>
            </a:r>
            <a:endParaRPr sz="8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8857" y="588873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137.43</a:t>
            </a:r>
            <a:endParaRPr sz="9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72200" y="129844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0"/>
                </a:solidFill>
                <a:latin typeface="Calibri"/>
              </a:rPr>
              <a:t>Top 6 Batting Averages  (All Seasons, min 10 matches)</a:t>
            </a:r>
            <a:endParaRPr sz="1100" b="1" i="0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172200" y="1773936"/>
            <a:ext cx="4785563" cy="41148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6208" y="18288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LMP Simmons</a:t>
            </a:r>
            <a:endParaRPr sz="10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030915" y="182880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  <a:latin typeface="Calibri"/>
              </a:rPr>
              <a:t>42.82</a:t>
            </a:r>
            <a:endParaRPr sz="1000" b="1" i="0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172200" y="2578608"/>
            <a:ext cx="4455871" cy="411480"/>
          </a:xfrm>
          <a:prstGeom prst="rect">
            <a:avLst/>
          </a:prstGeom>
          <a:solidFill>
            <a:srgbClr val="CC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26334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V Kohli</a:t>
            </a:r>
            <a:endParaRPr sz="10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701223" y="263347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  <a:latin typeface="Calibri"/>
              </a:rPr>
              <a:t>39.87</a:t>
            </a:r>
            <a:endParaRPr sz="1000" b="1" i="0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172200" y="3383280"/>
            <a:ext cx="4301642" cy="411480"/>
          </a:xfrm>
          <a:prstGeom prst="rect">
            <a:avLst/>
          </a:prstGeom>
          <a:solidFill>
            <a:srgbClr val="CC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36208" y="34381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DA Warner</a:t>
            </a:r>
            <a:endParaRPr sz="10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546994" y="343814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  <a:latin typeface="Calibri"/>
              </a:rPr>
              <a:t>38.49</a:t>
            </a:r>
            <a:endParaRPr sz="1000" b="1" i="0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172200" y="4187952"/>
            <a:ext cx="3859072" cy="411480"/>
          </a:xfrm>
          <a:prstGeom prst="rect">
            <a:avLst/>
          </a:prstGeom>
          <a:solidFill>
            <a:srgbClr val="99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36208" y="42428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AB de Villiers</a:t>
            </a:r>
            <a:endParaRPr sz="10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104424" y="424281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  <a:latin typeface="Calibri"/>
              </a:rPr>
              <a:t>34.53</a:t>
            </a:r>
            <a:endParaRPr sz="1000" b="1" i="0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172200" y="4992624"/>
            <a:ext cx="3796487" cy="411480"/>
          </a:xfrm>
          <a:prstGeom prst="rect">
            <a:avLst/>
          </a:prstGeom>
          <a:solidFill>
            <a:srgbClr val="99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36208" y="50474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MEK Hussey</a:t>
            </a:r>
            <a:endParaRPr sz="10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041839" y="504748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  <a:latin typeface="Calibri"/>
              </a:rPr>
              <a:t>33.97</a:t>
            </a:r>
            <a:endParaRPr sz="1000" b="1" i="0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172200" y="5797296"/>
            <a:ext cx="3727196" cy="411480"/>
          </a:xfrm>
          <a:prstGeom prst="rect">
            <a:avLst/>
          </a:prstGeom>
          <a:solidFill>
            <a:srgbClr val="99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36208" y="58521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CH Gayle</a:t>
            </a:r>
            <a:endParaRPr sz="10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972548" y="585216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  <a:latin typeface="Calibri"/>
              </a:rPr>
              <a:t>33.35</a:t>
            </a:r>
            <a:endParaRPr sz="1000" b="1" i="0">
              <a:solidFill>
                <a:srgbClr val="FFB7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64592"/>
            <a:ext cx="96012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79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2E"/>
                </a:solidFill>
                <a:latin typeface="Arial" panose="020B0704020202020204"/>
              </a:rPr>
              <a:t>BOWLING</a:t>
            </a:r>
            <a:endParaRPr sz="800" b="1" i="0">
              <a:solidFill>
                <a:srgbClr val="1C1C2E"/>
              </a:solidFill>
              <a:latin typeface="Arial" panose="020B07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 panose="020B0A04020102020204"/>
              </a:rPr>
              <a:t>Bowling Leaders + True All-Rounders</a:t>
            </a:r>
            <a:endParaRPr sz="2800" b="1" i="0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280160" cy="45720"/>
          </a:xfrm>
          <a:prstGeom prst="rect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261872"/>
            <a:ext cx="45720" cy="544068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D97F"/>
                </a:solidFill>
                <a:latin typeface="Calibri"/>
              </a:rPr>
              <a:t>Bowling Style — Wickets Taken  (Q10)</a:t>
            </a:r>
            <a:endParaRPr sz="1100" b="1" i="0">
              <a:solidFill>
                <a:srgbClr val="4CD97F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1755648"/>
            <a:ext cx="4731872" cy="438912"/>
          </a:xfrm>
          <a:prstGeom prst="rect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82880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Right-arm medium</a:t>
            </a:r>
            <a:endParaRPr sz="9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07944" y="177393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D97F"/>
                </a:solidFill>
                <a:latin typeface="Calibri"/>
              </a:rPr>
              <a:t>617</a:t>
            </a:r>
            <a:endParaRPr sz="1000" b="1" i="0">
              <a:solidFill>
                <a:srgbClr val="4CD97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7944" y="202996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B8"/>
                </a:solidFill>
                <a:latin typeface="Calibri"/>
              </a:rPr>
              <a:t>3.01/m</a:t>
            </a:r>
            <a:endParaRPr sz="8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2578608"/>
            <a:ext cx="2929619" cy="438912"/>
          </a:xfrm>
          <a:prstGeom prst="rect">
            <a:avLst/>
          </a:prstGeom>
          <a:solidFill>
            <a:srgbClr val="33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65176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RA fast-medium</a:t>
            </a:r>
            <a:endParaRPr sz="9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05691" y="259689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D97F"/>
                </a:solidFill>
                <a:latin typeface="Calibri"/>
              </a:rPr>
              <a:t>382</a:t>
            </a:r>
            <a:endParaRPr sz="1000" b="1" i="0">
              <a:solidFill>
                <a:srgbClr val="4CD97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05691" y="285292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B8"/>
                </a:solidFill>
                <a:latin typeface="Calibri"/>
              </a:rPr>
              <a:t>2.4/m</a:t>
            </a:r>
            <a:endParaRPr sz="8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3401568"/>
            <a:ext cx="2630522" cy="438912"/>
          </a:xfrm>
          <a:prstGeom prst="rect">
            <a:avLst/>
          </a:prstGeom>
          <a:solidFill>
            <a:srgbClr val="33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4747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RA medium-fast</a:t>
            </a:r>
            <a:endParaRPr sz="9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06594" y="341985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D97F"/>
                </a:solidFill>
                <a:latin typeface="Calibri"/>
              </a:rPr>
              <a:t>343</a:t>
            </a:r>
            <a:endParaRPr sz="1000" b="1" i="0">
              <a:solidFill>
                <a:srgbClr val="4CD97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06594" y="367588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B8"/>
                </a:solidFill>
                <a:latin typeface="Calibri"/>
              </a:rPr>
              <a:t>2.37/m</a:t>
            </a:r>
            <a:endParaRPr sz="8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4224528"/>
            <a:ext cx="2224056" cy="438912"/>
          </a:xfrm>
          <a:prstGeom prst="rect">
            <a:avLst/>
          </a:prstGeom>
          <a:solidFill>
            <a:srgbClr val="22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29768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RA offbreak</a:t>
            </a:r>
            <a:endParaRPr sz="9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00128" y="424281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D97F"/>
                </a:solidFill>
                <a:latin typeface="Calibri"/>
              </a:rPr>
              <a:t>290</a:t>
            </a:r>
            <a:endParaRPr sz="1000" b="1" i="0">
              <a:solidFill>
                <a:srgbClr val="4CD97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00128" y="449884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B8"/>
                </a:solidFill>
                <a:latin typeface="Calibri"/>
              </a:rPr>
              <a:t>1.92/m</a:t>
            </a:r>
            <a:endParaRPr sz="8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2920" y="5047488"/>
            <a:ext cx="2170372" cy="438912"/>
          </a:xfrm>
          <a:prstGeom prst="rect">
            <a:avLst/>
          </a:prstGeom>
          <a:solidFill>
            <a:srgbClr val="22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12064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SLA orthodox</a:t>
            </a:r>
            <a:endParaRPr sz="9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46444" y="506577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D97F"/>
                </a:solidFill>
                <a:latin typeface="Calibri"/>
              </a:rPr>
              <a:t>283</a:t>
            </a:r>
            <a:endParaRPr sz="1000" b="1" i="0">
              <a:solidFill>
                <a:srgbClr val="4CD97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46444" y="532180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B8"/>
                </a:solidFill>
                <a:latin typeface="Calibri"/>
              </a:rPr>
              <a:t>1.89/m</a:t>
            </a:r>
            <a:endParaRPr sz="8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02920" y="5870448"/>
            <a:ext cx="1817591" cy="438912"/>
          </a:xfrm>
          <a:prstGeom prst="rect">
            <a:avLst/>
          </a:prstGeom>
          <a:solidFill>
            <a:srgbClr val="22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94360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Right-arm fast</a:t>
            </a:r>
            <a:endParaRPr sz="9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393663" y="588873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D97F"/>
                </a:solidFill>
                <a:latin typeface="Calibri"/>
              </a:rPr>
              <a:t>237</a:t>
            </a:r>
            <a:endParaRPr sz="1000" b="1" i="0">
              <a:solidFill>
                <a:srgbClr val="4CD97F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393663" y="614476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B8"/>
                </a:solidFill>
                <a:latin typeface="Calibri"/>
              </a:rPr>
              <a:t>2.12/m</a:t>
            </a:r>
            <a:endParaRPr sz="8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72200" y="129844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0"/>
                </a:solidFill>
                <a:latin typeface="Calibri"/>
              </a:rPr>
              <a:t>Top All-Rounders — Q8  (23 qualify)</a:t>
            </a:r>
            <a:endParaRPr sz="1100" b="1" i="0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72200" y="1609344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AB8"/>
                </a:solidFill>
                <a:latin typeface="Calibri"/>
              </a:rPr>
              <a:t>Above average in BOTH batting AND bowling</a:t>
            </a:r>
            <a:endParaRPr sz="9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172200" y="1920240"/>
            <a:ext cx="5760720" cy="34747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19659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Player</a:t>
            </a:r>
            <a:endParaRPr sz="10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641080" y="1965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Avg Runs</a:t>
            </a:r>
            <a:endParaRPr sz="10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601200" y="1965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Avg Wkts</a:t>
            </a:r>
            <a:endParaRPr sz="10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561320" y="19659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Role</a:t>
            </a:r>
            <a:endParaRPr sz="10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172200" y="2331720"/>
            <a:ext cx="5760720" cy="667512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25146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LMP Simmons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641080" y="25146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B700"/>
                </a:solidFill>
                <a:latin typeface="Calibri"/>
              </a:rPr>
              <a:t>42.82</a:t>
            </a:r>
            <a:endParaRPr sz="1100" b="1" i="0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601200" y="25146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D97F"/>
                </a:solidFill>
                <a:latin typeface="Calibri"/>
              </a:rPr>
              <a:t>1.0</a:t>
            </a:r>
            <a:endParaRPr sz="1100" b="0" i="0">
              <a:solidFill>
                <a:srgbClr val="4CD97F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561320" y="251460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B8"/>
                </a:solidFill>
                <a:latin typeface="Calibri"/>
              </a:rPr>
              <a:t>Elite AR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172200" y="3044952"/>
            <a:ext cx="5760720" cy="66751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32278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MP Stoinis</a:t>
            </a:r>
            <a:endParaRPr sz="11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641080" y="322783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F0"/>
                </a:solidFill>
                <a:latin typeface="Calibri"/>
              </a:rPr>
              <a:t>29.2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601200" y="322783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D97F"/>
                </a:solidFill>
                <a:latin typeface="Calibri"/>
              </a:rPr>
              <a:t>1.29</a:t>
            </a:r>
            <a:endParaRPr sz="1100" b="0" i="0">
              <a:solidFill>
                <a:srgbClr val="4CD97F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561320" y="322783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B8"/>
                </a:solidFill>
                <a:latin typeface="Calibri"/>
              </a:rPr>
              <a:t>Balanced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172200" y="3758183"/>
            <a:ext cx="5760720" cy="667512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63640" y="394106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AD Russell</a:t>
            </a:r>
            <a:endParaRPr sz="11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641080" y="3941063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F0"/>
                </a:solidFill>
                <a:latin typeface="Calibri"/>
              </a:rPr>
              <a:t>22.91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601200" y="3941063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D97F"/>
                </a:solidFill>
                <a:latin typeface="Calibri"/>
              </a:rPr>
              <a:t>1.17</a:t>
            </a:r>
            <a:endParaRPr sz="1100" b="0" i="0">
              <a:solidFill>
                <a:srgbClr val="4CD97F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561320" y="3941063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B8"/>
                </a:solidFill>
                <a:latin typeface="Calibri"/>
              </a:rPr>
              <a:t>Explosive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172200" y="4471416"/>
            <a:ext cx="5760720" cy="66751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63640" y="46542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SR Watson</a:t>
            </a:r>
            <a:endParaRPr sz="11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641080" y="46542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F0"/>
                </a:solidFill>
                <a:latin typeface="Calibri"/>
              </a:rPr>
              <a:t>24.75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601200" y="46542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D97F"/>
                </a:solidFill>
                <a:latin typeface="Calibri"/>
              </a:rPr>
              <a:t>1.13</a:t>
            </a:r>
            <a:endParaRPr sz="1100" b="0" i="0">
              <a:solidFill>
                <a:srgbClr val="4CD97F"/>
              </a:solidFill>
              <a:latin typeface="Calibr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561320" y="465429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B8"/>
                </a:solidFill>
                <a:latin typeface="Calibri"/>
              </a:rPr>
              <a:t>Opening AR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172200" y="5184648"/>
            <a:ext cx="5760720" cy="667512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63640" y="53675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KA Pollard</a:t>
            </a:r>
            <a:endParaRPr sz="11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641080" y="5367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F0"/>
                </a:solidFill>
                <a:latin typeface="Calibri"/>
              </a:rPr>
              <a:t>22.37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601200" y="5367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D97F"/>
                </a:solidFill>
                <a:latin typeface="Calibri"/>
              </a:rPr>
              <a:t>0.5</a:t>
            </a:r>
            <a:endParaRPr sz="1100" b="0" i="0">
              <a:solidFill>
                <a:srgbClr val="4CD97F"/>
              </a:solidFill>
              <a:latin typeface="Calibri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561320" y="536752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B8"/>
                </a:solidFill>
                <a:latin typeface="Calibri"/>
              </a:rPr>
              <a:t>Bat AR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172200" y="5897880"/>
            <a:ext cx="5760720" cy="66751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63640" y="6080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RA Jadeja</a:t>
            </a:r>
            <a:endParaRPr sz="11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641080" y="60807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F0"/>
                </a:solidFill>
                <a:latin typeface="Calibri"/>
              </a:rPr>
              <a:t>13.4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601200" y="60807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D97F"/>
                </a:solidFill>
                <a:latin typeface="Calibri"/>
              </a:rPr>
              <a:t>0.93</a:t>
            </a:r>
            <a:endParaRPr sz="1100" b="0" i="0">
              <a:solidFill>
                <a:srgbClr val="4CD97F"/>
              </a:solidFill>
              <a:latin typeface="Calibri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561320" y="608076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B8"/>
                </a:solidFill>
                <a:latin typeface="Calibri"/>
              </a:rPr>
              <a:t>Spin AR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9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64592"/>
            <a:ext cx="105156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79"/>
            <a:ext cx="941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2E"/>
                </a:solidFill>
                <a:latin typeface="Arial" panose="020B0704020202020204"/>
              </a:rPr>
              <a:t>ANALYSIS</a:t>
            </a:r>
            <a:endParaRPr sz="800" b="1" i="0">
              <a:solidFill>
                <a:srgbClr val="1C1C2E"/>
              </a:solidFill>
              <a:latin typeface="Arial" panose="020B07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 panose="020B0A04020102020204"/>
              </a:rPr>
              <a:t>Toss Impact &amp; Home Ground Advantage</a:t>
            </a:r>
            <a:endParaRPr sz="2800" b="1" i="0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280160" cy="457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261872"/>
            <a:ext cx="45720" cy="544068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2984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TOSS DECISION IMPACT  (SQ1)</a:t>
            </a:r>
            <a:endParaRPr sz="11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1664208"/>
            <a:ext cx="5394960" cy="48463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847088"/>
            <a:ext cx="2395728" cy="260604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938528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9B1"/>
                </a:solidFill>
                <a:latin typeface="Arial Black" panose="020B0A04020102020204"/>
              </a:rPr>
              <a:t>FIELD FIRST</a:t>
            </a:r>
            <a:endParaRPr sz="15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22960" y="2377440"/>
            <a:ext cx="2066543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87168"/>
            <a:ext cx="23957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9B1"/>
                </a:solidFill>
                <a:latin typeface="Arial Black" panose="020B0A04020102020204"/>
              </a:rPr>
              <a:t>54.84%</a:t>
            </a:r>
            <a:endParaRPr sz="30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" y="3127248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9AB8"/>
                </a:solidFill>
                <a:latin typeface="Calibri"/>
              </a:rPr>
              <a:t>WIN RATE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" y="3419856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8"/>
                </a:solidFill>
                <a:latin typeface="Calibri"/>
              </a:rPr>
              <a:t>85W from 155 matches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27248" y="2999232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9A9AB8"/>
                </a:solidFill>
                <a:latin typeface="Arial Black" panose="020B0A04020102020204"/>
              </a:rPr>
              <a:t>VS</a:t>
            </a:r>
            <a:endParaRPr sz="1500" b="1" i="0">
              <a:solidFill>
                <a:srgbClr val="9A9AB8"/>
              </a:solidFill>
              <a:latin typeface="Arial Black" panose="020B0A040201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730752" y="1847088"/>
            <a:ext cx="2084831" cy="260604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0752" y="1938528"/>
            <a:ext cx="20848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9A9AB8"/>
                </a:solidFill>
                <a:latin typeface="Arial Black" panose="020B0A04020102020204"/>
              </a:rPr>
              <a:t>BAT FIRST</a:t>
            </a:r>
            <a:endParaRPr sz="1500" b="1" i="0">
              <a:solidFill>
                <a:srgbClr val="9A9AB8"/>
              </a:solidFill>
              <a:latin typeface="Arial Black" panose="020B0A040201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858768" y="2377440"/>
            <a:ext cx="1828800" cy="45720"/>
          </a:xfrm>
          <a:prstGeom prst="rect">
            <a:avLst/>
          </a:prstGeom>
          <a:solidFill>
            <a:srgbClr val="9A9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0752" y="2487168"/>
            <a:ext cx="20848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9A9AB8"/>
                </a:solidFill>
                <a:latin typeface="Arial Black" panose="020B0A04020102020204"/>
              </a:rPr>
              <a:t>43.00%</a:t>
            </a:r>
            <a:endParaRPr sz="3000" b="1" i="0">
              <a:solidFill>
                <a:srgbClr val="9A9AB8"/>
              </a:solidFill>
              <a:latin typeface="Arial Black" panose="020B0A040201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30752" y="3127248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9AB8"/>
                </a:solidFill>
                <a:latin typeface="Calibri"/>
              </a:rPr>
              <a:t>WIN RATE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30752" y="3419856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8"/>
                </a:solidFill>
                <a:latin typeface="Calibri"/>
              </a:rPr>
              <a:t>43W from 100 matches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8368" y="464515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8E8F0"/>
                </a:solidFill>
                <a:latin typeface="Calibri"/>
              </a:rPr>
              <a:t>◆  Fielding first gives +11.84% win advantage</a:t>
            </a:r>
            <a:endParaRPr sz="1100">
              <a:solidFill>
                <a:srgbClr val="E8E8F0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F0"/>
                </a:solidFill>
                <a:latin typeface="Calibri"/>
              </a:rPr>
              <a:t>◆  RCB should ALWAYS field when winning toss</a:t>
            </a:r>
            <a:endParaRPr sz="1100">
              <a:solidFill>
                <a:srgbClr val="E8E8F0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F0"/>
                </a:solidFill>
                <a:latin typeface="Calibri"/>
              </a:rPr>
              <a:t>◆  Pattern confirmed across all venues</a:t>
            </a:r>
            <a:endParaRPr sz="110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72200" y="129844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0"/>
                </a:solidFill>
                <a:latin typeface="Calibri"/>
              </a:rPr>
              <a:t>HOME VS AWAY  (SQ8)</a:t>
            </a:r>
            <a:endParaRPr sz="1100" b="1" i="0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172200" y="1737360"/>
            <a:ext cx="5760720" cy="12344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8105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HOME  (M Chinnaswamy Stadium)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72200" y="2194560"/>
            <a:ext cx="2925951" cy="47548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591" y="2212848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9B1"/>
                </a:solidFill>
                <a:latin typeface="Arial Black" panose="020B0A04020102020204"/>
              </a:rPr>
              <a:t>55.17%</a:t>
            </a:r>
            <a:endParaRPr sz="18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09360" y="2258568"/>
            <a:ext cx="274307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2E"/>
                </a:solidFill>
                <a:latin typeface="Calibri"/>
              </a:rPr>
              <a:t>16W — 11L — 2NR  |  29 matches</a:t>
            </a:r>
            <a:endParaRPr sz="900" b="0" i="0">
              <a:solidFill>
                <a:srgbClr val="1C1C2E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172200" y="3108960"/>
            <a:ext cx="5760720" cy="12344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1821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AWAY  (All other venues)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172200" y="3566160"/>
            <a:ext cx="2410449" cy="475488"/>
          </a:xfrm>
          <a:prstGeom prst="rect">
            <a:avLst/>
          </a:prstGeom>
          <a:solidFill>
            <a:srgbClr val="9A9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74089" y="3584448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A9AB8"/>
                </a:solidFill>
                <a:latin typeface="Arial Black" panose="020B0A04020102020204"/>
              </a:rPr>
              <a:t>45.45%</a:t>
            </a:r>
            <a:endParaRPr sz="1800" b="1" i="0">
              <a:solidFill>
                <a:srgbClr val="9A9AB8"/>
              </a:solidFill>
              <a:latin typeface="Arial Black" panose="020B0A040201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09360" y="3630168"/>
            <a:ext cx="222756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2E"/>
                </a:solidFill>
                <a:latin typeface="Calibri"/>
              </a:rPr>
              <a:t>15W — 18L  |  33 matches</a:t>
            </a:r>
            <a:endParaRPr sz="900" b="0" i="0">
              <a:solidFill>
                <a:srgbClr val="1C1C2E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172200" y="4498848"/>
            <a:ext cx="5760720" cy="457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46177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FFB700"/>
                </a:solidFill>
                <a:latin typeface="Calibri"/>
              </a:rPr>
              <a:t>GAP: +9.72 percentage points — Chinnaswamy is a fortress</a:t>
            </a:r>
            <a:endParaRPr sz="1100" b="1" i="1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72200" y="4956048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8E8F0"/>
                </a:solidFill>
                <a:latin typeface="Calibri"/>
              </a:rPr>
              <a:t>◆  More home wins (16) from fewer home matches (29)</a:t>
            </a:r>
            <a:endParaRPr sz="1100">
              <a:solidFill>
                <a:srgbClr val="E8E8F0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F0"/>
                </a:solidFill>
                <a:latin typeface="Calibri"/>
              </a:rPr>
              <a:t>◆  More away losses (18) from more away matches (33)</a:t>
            </a:r>
            <a:endParaRPr sz="1100">
              <a:solidFill>
                <a:srgbClr val="E8E8F0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F0"/>
                </a:solidFill>
                <a:latin typeface="Calibri"/>
              </a:rPr>
              <a:t>◆  Always field first at Chinnaswamy — data confirms it</a:t>
            </a:r>
            <a:endParaRPr sz="1100">
              <a:solidFill>
                <a:srgbClr val="E8E8F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64592"/>
            <a:ext cx="68580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79"/>
            <a:ext cx="576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2E"/>
                </a:solidFill>
                <a:latin typeface="Arial" panose="020B0704020202020204"/>
              </a:rPr>
              <a:t>KPIs</a:t>
            </a:r>
            <a:endParaRPr sz="800" b="1" i="0">
              <a:solidFill>
                <a:srgbClr val="1C1C2E"/>
              </a:solidFill>
              <a:latin typeface="Arial" panose="020B07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 panose="020B0A04020102020204"/>
              </a:rPr>
              <a:t>5 Advanced KPIs — Q12</a:t>
            </a:r>
            <a:endParaRPr sz="2800" b="1" i="0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28016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A9AB8"/>
                </a:solidFill>
                <a:latin typeface="Calibri"/>
              </a:rPr>
              <a:t>Custom metrics beyond standard stats — giving RCB deeper strategic intelligence</a:t>
            </a:r>
            <a:endParaRPr sz="12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00200"/>
            <a:ext cx="2231136" cy="32918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600200"/>
            <a:ext cx="2231136" cy="7315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4818888"/>
            <a:ext cx="2231136" cy="7315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764792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Arial Black" panose="020B0A04020102020204"/>
              </a:rPr>
              <a:t>POWERPLAY RATE</a:t>
            </a:r>
            <a:endParaRPr sz="11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3776" y="2194560"/>
            <a:ext cx="20482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Overs 1–6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93776" y="2514600"/>
            <a:ext cx="2002536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2651760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Gujarat Lions leads: 7.49 RPO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3776" y="3017520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RCB ranks 6th: 6.84 RPO</a:t>
            </a:r>
            <a:endParaRPr sz="10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93776" y="3429000"/>
            <a:ext cx="2002536" cy="36576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3566160"/>
            <a:ext cx="2048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9B1"/>
                </a:solidFill>
                <a:latin typeface="Calibri"/>
              </a:rPr>
              <a:t>→ Target PP openers with SR &gt; 140</a:t>
            </a:r>
            <a:endParaRPr sz="1000" b="0" i="1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15768" y="1600200"/>
            <a:ext cx="2231136" cy="32918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15768" y="1600200"/>
            <a:ext cx="2231136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15768" y="4818888"/>
            <a:ext cx="2231136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25496" y="1764792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0"/>
                </a:solidFill>
                <a:latin typeface="Arial Black" panose="020B0A04020102020204"/>
              </a:rPr>
              <a:t>DEATH OVER RATE</a:t>
            </a:r>
            <a:endParaRPr sz="1100" b="1" i="0">
              <a:solidFill>
                <a:srgbClr val="FFB700"/>
              </a:solidFill>
              <a:latin typeface="Arial Black" panose="020B0A040201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25496" y="2194560"/>
            <a:ext cx="20482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Overs 16–20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825496" y="2514600"/>
            <a:ext cx="2002536" cy="3657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25496" y="2651760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RCB LEADS ALL: 10.39 RPO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25496" y="3017520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Best death batting in IPL</a:t>
            </a:r>
            <a:endParaRPr sz="10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25496" y="3429000"/>
            <a:ext cx="2002536" cy="36576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25496" y="3566160"/>
            <a:ext cx="2048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B700"/>
                </a:solidFill>
                <a:latin typeface="Calibri"/>
              </a:rPr>
              <a:t>→ Retain ABD &amp; Russell at all costs</a:t>
            </a:r>
            <a:endParaRPr sz="1000" b="0" i="1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47488" y="1600200"/>
            <a:ext cx="2231136" cy="32918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47488" y="1600200"/>
            <a:ext cx="2231136" cy="73152"/>
          </a:xfrm>
          <a:prstGeom prst="rect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47488" y="4818888"/>
            <a:ext cx="2231136" cy="73152"/>
          </a:xfrm>
          <a:prstGeom prst="rect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57216" y="1764792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D97F"/>
                </a:solidFill>
                <a:latin typeface="Arial Black" panose="020B0A04020102020204"/>
              </a:rPr>
              <a:t>BOWL ECONOMY</a:t>
            </a:r>
            <a:endParaRPr sz="1100" b="1" i="0">
              <a:solidFill>
                <a:srgbClr val="4CD97F"/>
              </a:solidFill>
              <a:latin typeface="Arial Black" panose="020B0A040201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57216" y="2194560"/>
            <a:ext cx="20482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Runs per over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157216" y="2514600"/>
            <a:ext cx="2002536" cy="36576"/>
          </a:xfrm>
          <a:prstGeom prst="rect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57216" y="2651760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SP Narine BEST: 6.24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157216" y="3017520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R Ashwin: 6.31 eco</a:t>
            </a:r>
            <a:endParaRPr sz="10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157216" y="3429000"/>
            <a:ext cx="2002536" cy="36576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57216" y="3566160"/>
            <a:ext cx="2048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CD97F"/>
                </a:solidFill>
                <a:latin typeface="Calibri"/>
              </a:rPr>
              <a:t>→ Buy economical mystery spinners</a:t>
            </a:r>
            <a:endParaRPr sz="1000" b="0" i="1">
              <a:solidFill>
                <a:srgbClr val="4CD97F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379208" y="1600200"/>
            <a:ext cx="2231136" cy="32918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79208" y="1600200"/>
            <a:ext cx="2231136" cy="73152"/>
          </a:xfrm>
          <a:prstGeom prst="rect">
            <a:avLst/>
          </a:prstGeom>
          <a:solidFill>
            <a:srgbClr val="B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79208" y="4818888"/>
            <a:ext cx="2231136" cy="73152"/>
          </a:xfrm>
          <a:prstGeom prst="rect">
            <a:avLst/>
          </a:prstGeom>
          <a:solidFill>
            <a:srgbClr val="B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88936" y="1764792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7FFF"/>
                </a:solidFill>
                <a:latin typeface="Arial Black" panose="020B0A04020102020204"/>
              </a:rPr>
              <a:t>DOT BALL %</a:t>
            </a:r>
            <a:endParaRPr sz="1100" b="1" i="0">
              <a:solidFill>
                <a:srgbClr val="B07FFF"/>
              </a:solidFill>
              <a:latin typeface="Arial Black" panose="020B0A0402010202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488936" y="2194560"/>
            <a:ext cx="20482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Bowling pressure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488936" y="2514600"/>
            <a:ext cx="2002536" cy="36576"/>
          </a:xfrm>
          <a:prstGeom prst="rect">
            <a:avLst/>
          </a:prstGeom>
          <a:solidFill>
            <a:srgbClr val="B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88936" y="2651760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 Rampaul leads: 50.36%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488936" y="3017520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Every 2nd ball = dot</a:t>
            </a:r>
            <a:endParaRPr sz="10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488936" y="3429000"/>
            <a:ext cx="2002536" cy="36576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88936" y="3566160"/>
            <a:ext cx="2048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7FFF"/>
                </a:solidFill>
                <a:latin typeface="Calibri"/>
              </a:rPr>
              <a:t>→ High dot% = match-winning pressure</a:t>
            </a:r>
            <a:endParaRPr sz="1000" b="0" i="1">
              <a:solidFill>
                <a:srgbClr val="B07FFF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710928" y="1600200"/>
            <a:ext cx="2231136" cy="32918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710928" y="1600200"/>
            <a:ext cx="2231136" cy="7315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10928" y="4818888"/>
            <a:ext cx="2231136" cy="7315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20655" y="1764792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545"/>
                </a:solidFill>
                <a:latin typeface="Arial Black" panose="020B0A04020102020204"/>
              </a:rPr>
              <a:t>BOUNDARY %</a:t>
            </a:r>
            <a:endParaRPr sz="1100" b="1" i="0">
              <a:solidFill>
                <a:srgbClr val="FF4545"/>
              </a:solidFill>
              <a:latin typeface="Arial Black" panose="020B0A0402010202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820655" y="2194560"/>
            <a:ext cx="20482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8"/>
                </a:solidFill>
                <a:latin typeface="Calibri"/>
              </a:rPr>
              <a:t>Batting aggression</a:t>
            </a:r>
            <a:endParaRPr sz="9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820655" y="2514600"/>
            <a:ext cx="2002536" cy="3657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20655" y="2651760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AD Russell tops: 24.46%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820655" y="3017520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ABD 2nd: 23.12%</a:t>
            </a:r>
            <a:endParaRPr sz="10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9820655" y="3429000"/>
            <a:ext cx="2002536" cy="36576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20655" y="3566160"/>
            <a:ext cx="2048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4545"/>
                </a:solidFill>
                <a:latin typeface="Calibri"/>
              </a:rPr>
              <a:t>→ 1 in 4 balls hits the boundary</a:t>
            </a:r>
            <a:endParaRPr sz="1000" b="0" i="1">
              <a:solidFill>
                <a:srgbClr val="FF454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64592"/>
            <a:ext cx="169164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79"/>
            <a:ext cx="1581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2E"/>
                </a:solidFill>
                <a:latin typeface="Arial" panose="020B0704020202020204"/>
              </a:rPr>
              <a:t>SEASON ANALYSIS</a:t>
            </a:r>
            <a:endParaRPr sz="800" b="1" i="0">
              <a:solidFill>
                <a:srgbClr val="1C1C2E"/>
              </a:solidFill>
              <a:latin typeface="Arial" panose="020B07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 panose="020B0A04020102020204"/>
              </a:rPr>
              <a:t>RCB Past Season Performance — SQ9</a:t>
            </a:r>
            <a:endParaRPr sz="2800" b="1" i="0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280160" cy="457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120390"/>
            <a:ext cx="2606040" cy="1954529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7291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  <a:latin typeface="Arial Black" panose="020B0A04020102020204"/>
              </a:rPr>
              <a:t>56.25%</a:t>
            </a:r>
            <a:endParaRPr sz="13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51480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2013</a:t>
            </a:r>
            <a:endParaRPr sz="13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8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B8"/>
                </a:solidFill>
                <a:latin typeface="Calibri"/>
              </a:rPr>
              <a:t>W9 / L7</a:t>
            </a:r>
            <a:endParaRPr sz="11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27832" y="3834097"/>
            <a:ext cx="2606040" cy="124082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3486625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4545"/>
                </a:solidFill>
                <a:latin typeface="Arial Black" panose="020B0A04020102020204"/>
              </a:rPr>
              <a:t>35.71%</a:t>
            </a:r>
            <a:endParaRPr sz="1300" b="1" i="0">
              <a:solidFill>
                <a:srgbClr val="FF4545"/>
              </a:solidFill>
              <a:latin typeface="Arial Black" panose="020B0A040201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27832" y="51480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2014</a:t>
            </a:r>
            <a:endParaRPr sz="13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27832" y="544068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B8"/>
                </a:solidFill>
                <a:latin typeface="Calibri"/>
              </a:rPr>
              <a:t>W5 / L9</a:t>
            </a:r>
            <a:endParaRPr sz="11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98464" y="3337560"/>
            <a:ext cx="2606040" cy="173736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98464" y="299008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4545"/>
                </a:solidFill>
                <a:latin typeface="Arial Black" panose="020B0A04020102020204"/>
              </a:rPr>
              <a:t>50.0%</a:t>
            </a:r>
            <a:endParaRPr sz="1300" b="1" i="0">
              <a:solidFill>
                <a:srgbClr val="FF4545"/>
              </a:solidFill>
              <a:latin typeface="Arial Black" panose="020B0A040201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98464" y="51480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2015</a:t>
            </a:r>
            <a:endParaRPr sz="13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98464" y="544068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B8"/>
                </a:solidFill>
                <a:latin typeface="Calibri"/>
              </a:rPr>
              <a:t>W8 / L6</a:t>
            </a:r>
            <a:endParaRPr sz="11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769096" y="3120390"/>
            <a:ext cx="2606040" cy="1954529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9096" y="277291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  <a:latin typeface="Arial Black" panose="020B0A04020102020204"/>
              </a:rPr>
              <a:t>56.25%</a:t>
            </a:r>
            <a:endParaRPr sz="13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69096" y="51480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2016</a:t>
            </a:r>
            <a:endParaRPr sz="13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69096" y="544068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B8"/>
                </a:solidFill>
                <a:latin typeface="Calibri"/>
              </a:rPr>
              <a:t>W9 / L7</a:t>
            </a:r>
            <a:endParaRPr sz="11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5074920"/>
            <a:ext cx="11027664" cy="36576"/>
          </a:xfrm>
          <a:prstGeom prst="rect">
            <a:avLst/>
          </a:prstGeom>
          <a:solidFill>
            <a:srgbClr val="9A9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687568"/>
            <a:ext cx="2606040" cy="86868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687568"/>
            <a:ext cx="260604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797296"/>
            <a:ext cx="2441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F0"/>
                </a:solidFill>
                <a:latin typeface="Calibri"/>
              </a:rPr>
              <a:t>2460 runs · 153.75/m</a:t>
            </a:r>
            <a:endParaRPr sz="9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" y="6163056"/>
            <a:ext cx="2441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Strong start</a:t>
            </a:r>
            <a:endParaRPr sz="11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27832" y="5687568"/>
            <a:ext cx="2606040" cy="86868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27832" y="5687568"/>
            <a:ext cx="2606040" cy="6400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9272" y="5797296"/>
            <a:ext cx="2441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F0"/>
                </a:solidFill>
                <a:latin typeface="Calibri"/>
              </a:rPr>
              <a:t>1992 runs · 142.29/m</a:t>
            </a:r>
            <a:endParaRPr sz="9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319272" y="6163056"/>
            <a:ext cx="2441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545"/>
                </a:solidFill>
                <a:latin typeface="Calibri"/>
              </a:rPr>
              <a:t>Worst season</a:t>
            </a:r>
            <a:endParaRPr sz="1100" b="1" i="0">
              <a:solidFill>
                <a:srgbClr val="FF4545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998464" y="5687568"/>
            <a:ext cx="2606040" cy="86868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98464" y="5687568"/>
            <a:ext cx="2606040" cy="6400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9904" y="5797296"/>
            <a:ext cx="2441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F0"/>
                </a:solidFill>
                <a:latin typeface="Calibri"/>
              </a:rPr>
              <a:t>2190 runs · 136.88/m</a:t>
            </a:r>
            <a:endParaRPr sz="9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89904" y="6163056"/>
            <a:ext cx="2441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545"/>
                </a:solidFill>
                <a:latin typeface="Calibri"/>
              </a:rPr>
              <a:t>Recovery</a:t>
            </a:r>
            <a:endParaRPr sz="1100" b="1" i="0">
              <a:solidFill>
                <a:srgbClr val="FF4545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769096" y="5687568"/>
            <a:ext cx="2606040" cy="86868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69096" y="5687568"/>
            <a:ext cx="260604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0536" y="5797296"/>
            <a:ext cx="2441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F0"/>
                </a:solidFill>
                <a:latin typeface="Calibri"/>
              </a:rPr>
              <a:t>2859 runs · 178.69/m</a:t>
            </a:r>
            <a:endParaRPr sz="9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860536" y="6163056"/>
            <a:ext cx="2441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Best batting</a:t>
            </a:r>
            <a:endParaRPr sz="11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7200" y="6629400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B700"/>
                </a:solidFill>
                <a:latin typeface="Calibri"/>
              </a:rPr>
              <a:t>Key Pattern: When RCB bats well they win — 2014 batting collapse caused their worst ever season. Bowling has been the consistent weak link.</a:t>
            </a:r>
            <a:endParaRPr sz="1000" b="0" i="1">
              <a:solidFill>
                <a:srgbClr val="FFB7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12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64592"/>
            <a:ext cx="169164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79"/>
            <a:ext cx="1581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2E"/>
                </a:solidFill>
                <a:latin typeface="Arial" panose="020B0704020202020204"/>
              </a:rPr>
              <a:t>RECOMMENDATIONS</a:t>
            </a:r>
            <a:endParaRPr sz="800" b="1" i="0">
              <a:solidFill>
                <a:srgbClr val="1C1C2E"/>
              </a:solidFill>
              <a:latin typeface="Arial" panose="020B07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 panose="020B0A04020102020204"/>
              </a:rPr>
              <a:t>Best Players for RCB — Composite Score  (SQ2)</a:t>
            </a:r>
            <a:endParaRPr sz="2800" b="1" i="0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28016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A9AB8"/>
                </a:solidFill>
                <a:latin typeface="Calibri"/>
              </a:rPr>
              <a:t>Composite Score = (Avg Runs × Strike Rate) ÷ 100  |  Min 20 matches</a:t>
            </a:r>
            <a:endParaRPr sz="11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8912" y="1600200"/>
            <a:ext cx="11338560" cy="38404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645920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#</a:t>
            </a:r>
            <a:endParaRPr sz="10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1645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Player</a:t>
            </a:r>
            <a:endParaRPr sz="10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69080" y="16459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Matches</a:t>
            </a:r>
            <a:endParaRPr sz="10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20640" y="1645920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Avg Runs</a:t>
            </a:r>
            <a:endParaRPr sz="10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91072" y="1645920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Strike Rate</a:t>
            </a:r>
            <a:endParaRPr sz="10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99248" y="164592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Score ⭐</a:t>
            </a:r>
            <a:endParaRPr sz="10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96528" y="1645920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Role</a:t>
            </a:r>
            <a:endParaRPr sz="10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38912" y="2029968"/>
            <a:ext cx="11338560" cy="704087"/>
          </a:xfrm>
          <a:prstGeom prst="rect">
            <a:avLst/>
          </a:prstGeom>
          <a:solidFill>
            <a:srgbClr val="1E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" y="2029968"/>
            <a:ext cx="54864" cy="704087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24942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B1"/>
                </a:solidFill>
                <a:latin typeface="Calibri"/>
              </a:rPr>
              <a:t>1</a:t>
            </a:r>
            <a:endParaRPr sz="11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8680" y="224942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AB de Villiers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069080" y="224942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B8"/>
                </a:solidFill>
                <a:latin typeface="Calibri"/>
              </a:rPr>
              <a:t>57</a:t>
            </a:r>
            <a:endParaRPr sz="11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20640" y="2249424"/>
            <a:ext cx="1115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F0"/>
                </a:solidFill>
                <a:latin typeface="Calibri"/>
              </a:rPr>
              <a:t>34.53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91072" y="2249424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F0"/>
                </a:solidFill>
                <a:latin typeface="Calibri"/>
              </a:rPr>
              <a:t>164.27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699248" y="2212848"/>
            <a:ext cx="864412" cy="38404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18524" y="223113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56.72</a:t>
            </a:r>
            <a:endParaRPr sz="10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96528" y="2249424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700"/>
                </a:solidFill>
                <a:latin typeface="Calibri"/>
              </a:rPr>
              <a:t>★ Must-have finisher</a:t>
            </a:r>
            <a:endParaRPr sz="1000" b="0" i="0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38912" y="2779776"/>
            <a:ext cx="11338560" cy="704087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299923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A9AB8"/>
                </a:solidFill>
                <a:latin typeface="Calibri"/>
              </a:rPr>
              <a:t>2</a:t>
            </a:r>
            <a:endParaRPr sz="1100" b="1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68680" y="2999232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DA Warner</a:t>
            </a:r>
            <a:endParaRPr sz="12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069080" y="299923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B8"/>
                </a:solidFill>
                <a:latin typeface="Calibri"/>
              </a:rPr>
              <a:t>61</a:t>
            </a:r>
            <a:endParaRPr sz="11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20640" y="2999232"/>
            <a:ext cx="1115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F0"/>
                </a:solidFill>
                <a:latin typeface="Calibri"/>
              </a:rPr>
              <a:t>38.49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91072" y="2999232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F0"/>
                </a:solidFill>
                <a:latin typeface="Calibri"/>
              </a:rPr>
              <a:t>140.94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99248" y="2962656"/>
            <a:ext cx="826770" cy="384048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80882" y="298094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54.25</a:t>
            </a:r>
            <a:endParaRPr sz="10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796528" y="2999232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Consistent opener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38912" y="3529584"/>
            <a:ext cx="11338560" cy="704087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374904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A9AB8"/>
                </a:solidFill>
                <a:latin typeface="Calibri"/>
              </a:rPr>
              <a:t>3</a:t>
            </a:r>
            <a:endParaRPr sz="1100" b="1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68680" y="3749040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 Kohli</a:t>
            </a:r>
            <a:endParaRPr sz="12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069080" y="374904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B8"/>
                </a:solidFill>
                <a:latin typeface="Calibri"/>
              </a:rPr>
              <a:t>62</a:t>
            </a:r>
            <a:endParaRPr sz="11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120640" y="3749040"/>
            <a:ext cx="1115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F0"/>
                </a:solidFill>
                <a:latin typeface="Calibri"/>
              </a:rPr>
              <a:t>39.87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91072" y="3749040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F0"/>
                </a:solidFill>
                <a:latin typeface="Calibri"/>
              </a:rPr>
              <a:t>135.68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699248" y="3712464"/>
            <a:ext cx="824484" cy="384048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78596" y="373075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54.1</a:t>
            </a:r>
            <a:endParaRPr sz="10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796528" y="3749040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Already at RCB ✓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38912" y="4279392"/>
            <a:ext cx="11338560" cy="704087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449884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A9AB8"/>
                </a:solidFill>
                <a:latin typeface="Calibri"/>
              </a:rPr>
              <a:t>4</a:t>
            </a:r>
            <a:endParaRPr sz="1100" b="1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68680" y="4498848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LMP Simmons</a:t>
            </a:r>
            <a:endParaRPr sz="12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069080" y="44988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B8"/>
                </a:solidFill>
                <a:latin typeface="Calibri"/>
              </a:rPr>
              <a:t>22</a:t>
            </a:r>
            <a:endParaRPr sz="11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120640" y="4498848"/>
            <a:ext cx="1115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F0"/>
                </a:solidFill>
                <a:latin typeface="Calibri"/>
              </a:rPr>
              <a:t>42.82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291072" y="4498848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F0"/>
                </a:solidFill>
                <a:latin typeface="Calibri"/>
              </a:rPr>
              <a:t>123.62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699248" y="4462272"/>
            <a:ext cx="806653" cy="384048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60765" y="4480559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52.93</a:t>
            </a:r>
            <a:endParaRPr sz="10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796528" y="4498848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High avg specialist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38912" y="5029200"/>
            <a:ext cx="11338560" cy="704087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524865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A9AB8"/>
                </a:solidFill>
                <a:latin typeface="Calibri"/>
              </a:rPr>
              <a:t>5</a:t>
            </a:r>
            <a:endParaRPr sz="1100" b="1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68680" y="5248656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 Gayle</a:t>
            </a:r>
            <a:endParaRPr sz="12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069080" y="524865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B8"/>
                </a:solidFill>
                <a:latin typeface="Calibri"/>
              </a:rPr>
              <a:t>49</a:t>
            </a:r>
            <a:endParaRPr sz="11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120640" y="5248656"/>
            <a:ext cx="1115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F0"/>
                </a:solidFill>
                <a:latin typeface="Calibri"/>
              </a:rPr>
              <a:t>33.35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291072" y="5248656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F0"/>
                </a:solidFill>
                <a:latin typeface="Calibri"/>
              </a:rPr>
              <a:t>137.43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699248" y="5212080"/>
            <a:ext cx="698449" cy="384048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52561" y="523036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45.83</a:t>
            </a:r>
            <a:endParaRPr sz="10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796528" y="5248656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PP destroyer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38912" y="5779008"/>
            <a:ext cx="11338560" cy="704087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12" y="599846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A9AB8"/>
                </a:solidFill>
                <a:latin typeface="Calibri"/>
              </a:rPr>
              <a:t>6</a:t>
            </a:r>
            <a:endParaRPr sz="1100" b="1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68680" y="599846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AD Russell</a:t>
            </a:r>
            <a:endParaRPr sz="12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069080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B8"/>
                </a:solidFill>
                <a:latin typeface="Calibri"/>
              </a:rPr>
              <a:t>23</a:t>
            </a:r>
            <a:endParaRPr sz="11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120640" y="5998464"/>
            <a:ext cx="1115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F0"/>
                </a:solidFill>
                <a:latin typeface="Calibri"/>
              </a:rPr>
              <a:t>22.91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291072" y="5998464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F0"/>
                </a:solidFill>
                <a:latin typeface="Calibri"/>
              </a:rPr>
              <a:t>163.16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699248" y="5961888"/>
            <a:ext cx="569671" cy="384048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23783" y="598017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37.38</a:t>
            </a:r>
            <a:endParaRPr sz="10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796528" y="5998464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B8"/>
                </a:solidFill>
                <a:latin typeface="Calibri"/>
              </a:rPr>
              <a:t>Death overs specialist</a:t>
            </a:r>
            <a:endParaRPr sz="1000" b="0" i="1">
              <a:solidFill>
                <a:srgbClr val="9A9A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13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64592"/>
            <a:ext cx="178308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79"/>
            <a:ext cx="1673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C2E"/>
                </a:solidFill>
                <a:latin typeface="Arial" panose="020B0704020202020204"/>
              </a:rPr>
              <a:t>AUCTION STRATEGY</a:t>
            </a:r>
            <a:endParaRPr sz="800" b="1" i="0">
              <a:solidFill>
                <a:srgbClr val="1C1C2E"/>
              </a:solidFill>
              <a:latin typeface="Arial" panose="020B07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 panose="020B0A04020102020204"/>
              </a:rPr>
              <a:t>6 Data-Backed Recommendations for RCB  (SQ6)</a:t>
            </a:r>
            <a:endParaRPr sz="2800" b="1" i="0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280160" cy="457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417320"/>
            <a:ext cx="5742432" cy="1572768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1417320"/>
            <a:ext cx="64008" cy="15727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1792" y="1581912"/>
            <a:ext cx="502920" cy="502920"/>
          </a:xfrm>
          <a:prstGeom prst="ellipse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6002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Arial Black" panose="020B0A04020102020204"/>
              </a:rPr>
              <a:t>01</a:t>
            </a:r>
            <a:endParaRPr sz="1200" b="1" i="0">
              <a:solidFill>
                <a:srgbClr val="1C1C2E"/>
              </a:solidFill>
              <a:latin typeface="Arial Black" panose="020B0A040201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61872" y="15819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  <a:latin typeface="Calibri"/>
              </a:rPr>
              <a:t>Fix the Powerplay</a:t>
            </a:r>
            <a:endParaRPr sz="13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61872" y="1984248"/>
            <a:ext cx="4754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RCB ranks 6th at 6.84 RPO. Target openers with powerplay SR &gt; 140 to exploit fielding restrictions in overs 1-6.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72783" y="1417320"/>
            <a:ext cx="5742432" cy="1572768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3" y="1417320"/>
            <a:ext cx="64008" cy="15727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55664" y="1581912"/>
            <a:ext cx="502920" cy="50292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6002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Arial Black" panose="020B0A04020102020204"/>
              </a:rPr>
              <a:t>02</a:t>
            </a:r>
            <a:endParaRPr sz="1200" b="1" i="0">
              <a:solidFill>
                <a:srgbClr val="1C1C2E"/>
              </a:solidFill>
              <a:latin typeface="Arial Black" panose="020B0A040201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95744" y="15819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  <a:latin typeface="Calibri"/>
              </a:rPr>
              <a:t>Keep Death Over Edge</a:t>
            </a:r>
            <a:endParaRPr sz="1300" b="1" i="0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95744" y="1984248"/>
            <a:ext cx="4754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RCB LEADS all teams at 10.39 RPO in overs 16-20. Retain AB de Villiers and AD Russell at any cost.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38912" y="3081528"/>
            <a:ext cx="5742432" cy="1572768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" y="3081528"/>
            <a:ext cx="64008" cy="1572768"/>
          </a:xfrm>
          <a:prstGeom prst="rect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1792" y="3246120"/>
            <a:ext cx="502920" cy="502920"/>
          </a:xfrm>
          <a:prstGeom prst="ellipse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26440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Arial Black" panose="020B0A04020102020204"/>
              </a:rPr>
              <a:t>03</a:t>
            </a:r>
            <a:endParaRPr sz="1200" b="1" i="0">
              <a:solidFill>
                <a:srgbClr val="1C1C2E"/>
              </a:solidFill>
              <a:latin typeface="Arial Black" panose="020B0A040201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61872" y="3246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D97F"/>
                </a:solidFill>
                <a:latin typeface="Calibri"/>
              </a:rPr>
              <a:t>Buy RA Medium Pacers</a:t>
            </a:r>
            <a:endParaRPr sz="1300" b="1" i="0">
              <a:solidFill>
                <a:srgbClr val="4CD97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61872" y="3648456"/>
            <a:ext cx="4754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Right-arm medium took 617 wickets at 3.01/match — most effective style. Target 2-3 quality pacers urgently.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72783" y="3081528"/>
            <a:ext cx="5742432" cy="1572768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2783" y="3081528"/>
            <a:ext cx="64008" cy="1572768"/>
          </a:xfrm>
          <a:prstGeom prst="rect">
            <a:avLst/>
          </a:prstGeom>
          <a:solidFill>
            <a:srgbClr val="B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55664" y="3246120"/>
            <a:ext cx="502920" cy="502920"/>
          </a:xfrm>
          <a:prstGeom prst="ellipse">
            <a:avLst/>
          </a:prstGeom>
          <a:solidFill>
            <a:srgbClr val="B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326440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Arial Black" panose="020B0A04020102020204"/>
              </a:rPr>
              <a:t>04</a:t>
            </a:r>
            <a:endParaRPr sz="1200" b="1" i="0">
              <a:solidFill>
                <a:srgbClr val="1C1C2E"/>
              </a:solidFill>
              <a:latin typeface="Arial Black" panose="020B0A040201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95744" y="3246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7FFF"/>
                </a:solidFill>
                <a:latin typeface="Calibri"/>
              </a:rPr>
              <a:t>Invest in All-Rounders</a:t>
            </a:r>
            <a:endParaRPr sz="1300" b="1" i="0">
              <a:solidFill>
                <a:srgbClr val="B07FFF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95744" y="3648456"/>
            <a:ext cx="4754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SR Watson (1315 runs + 54 wkts) and AD Russell (527 runs + 35 wkts) fill two squad spots in one player.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38912" y="4745736"/>
            <a:ext cx="5742432" cy="1572768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" y="4745736"/>
            <a:ext cx="64008" cy="157276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21792" y="4910328"/>
            <a:ext cx="502920" cy="50292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492861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Arial Black" panose="020B0A04020102020204"/>
              </a:rPr>
              <a:t>05</a:t>
            </a:r>
            <a:endParaRPr sz="1200" b="1" i="0">
              <a:solidFill>
                <a:srgbClr val="1C1C2E"/>
              </a:solidFill>
              <a:latin typeface="Arial Black" panose="020B0A040201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61872" y="49103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545"/>
                </a:solidFill>
                <a:latin typeface="Calibri"/>
              </a:rPr>
              <a:t>Prioritize Consistency</a:t>
            </a:r>
            <a:endParaRPr sz="1300" b="1" i="0">
              <a:solidFill>
                <a:srgbClr val="FF4545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61872" y="5312664"/>
            <a:ext cx="4754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RG Sharma's performance range of 148 across 4 seasons is the benchmark. Avoid boom-bust players.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72783" y="4745736"/>
            <a:ext cx="5742432" cy="1572768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2783" y="4745736"/>
            <a:ext cx="64008" cy="15727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55664" y="4910328"/>
            <a:ext cx="502920" cy="502920"/>
          </a:xfrm>
          <a:prstGeom prst="ellipse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492861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Arial Black" panose="020B0A04020102020204"/>
              </a:rPr>
              <a:t>06</a:t>
            </a:r>
            <a:endParaRPr sz="1200" b="1" i="0">
              <a:solidFill>
                <a:srgbClr val="1C1C2E"/>
              </a:solidFill>
              <a:latin typeface="Arial Black" panose="020B0A0402010202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95744" y="49103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  <a:latin typeface="Calibri"/>
              </a:rPr>
              <a:t>Add Mystery Spinner</a:t>
            </a:r>
            <a:endParaRPr sz="13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095744" y="5312664"/>
            <a:ext cx="4754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SP Narine (6.24 eco) and R Ashwin (6.31 eco) prove mystery spin controls middle overs brilliantly.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solidFill>
            <a:srgbClr val="00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22608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14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4160520" cy="6793992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7724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9B1"/>
                </a:solidFill>
                <a:latin typeface="Arial Black" panose="020B0A04020102020204"/>
              </a:rPr>
              <a:t>THE</a:t>
            </a:r>
            <a:endParaRPr sz="38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" y="1353312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 panose="020B0A04020102020204"/>
              </a:rPr>
              <a:t>FINAL</a:t>
            </a:r>
            <a:endParaRPr sz="3800" b="1" i="0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" y="192024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B700"/>
                </a:solidFill>
                <a:latin typeface="Arial Black" panose="020B0A04020102020204"/>
              </a:rPr>
              <a:t>VERDICT</a:t>
            </a:r>
            <a:endParaRPr sz="3800" b="1" i="0">
              <a:solidFill>
                <a:srgbClr val="FFB700"/>
              </a:solidFill>
              <a:latin typeface="Arial Black" panose="020B0A040201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" y="2633472"/>
            <a:ext cx="333756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7889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E8E8F0"/>
                </a:solidFill>
                <a:latin typeface="Calibri"/>
              </a:rPr>
              <a:t>"RCB has world-class
batsmen. Now they need
a bowling attack
to match."</a:t>
            </a:r>
            <a:endParaRPr sz="1500" b="0" i="1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" y="4462272"/>
            <a:ext cx="3337560" cy="457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438912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 panose="020B0A04020102020204"/>
              </a:rPr>
              <a:t>KEY TAKEAWAYS</a:t>
            </a:r>
            <a:endParaRPr sz="2000" b="1" i="0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434840" y="932688"/>
            <a:ext cx="740664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051560"/>
            <a:ext cx="7406640" cy="82296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051560"/>
            <a:ext cx="64008" cy="8229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116128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Batting Powerhouse</a:t>
            </a:r>
            <a:endParaRPr sz="12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71231" y="1161288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Avg 152 runs/match. 2016 peak: 178.69 — elite T20 standard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434840" y="1984248"/>
            <a:ext cx="7406640" cy="82296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1984248"/>
            <a:ext cx="64008" cy="82296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209397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45"/>
                </a:solidFill>
                <a:latin typeface="Calibri"/>
              </a:rPr>
              <a:t>Bowling is the Gap</a:t>
            </a:r>
            <a:endParaRPr sz="1200" b="1" i="0">
              <a:solidFill>
                <a:srgbClr val="FF4545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71231" y="2093976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RA medium 617 wkts at 3.01/match. RCB must urgently invest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434840" y="2916936"/>
            <a:ext cx="7406640" cy="82296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2916936"/>
            <a:ext cx="64008" cy="8229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302666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0"/>
                </a:solidFill>
                <a:latin typeface="Calibri"/>
              </a:rPr>
              <a:t>Home is a Fortress</a:t>
            </a:r>
            <a:endParaRPr sz="1200" b="1" i="0">
              <a:solidFill>
                <a:srgbClr val="FFB700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71231" y="3026664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55.17% at Chinnaswamy vs 45.45% away — +9.72% to maximize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434840" y="3849624"/>
            <a:ext cx="7406640" cy="82296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3849624"/>
            <a:ext cx="64008" cy="822960"/>
          </a:xfrm>
          <a:prstGeom prst="rect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2" y="395935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D97F"/>
                </a:solidFill>
                <a:latin typeface="Calibri"/>
              </a:rPr>
              <a:t>All-Rounders = Gold</a:t>
            </a:r>
            <a:endParaRPr sz="1200" b="1" i="0">
              <a:solidFill>
                <a:srgbClr val="4CD97F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71231" y="3959352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23 players beat both batting &amp; bowling averages — dual value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434840" y="4782312"/>
            <a:ext cx="7406640" cy="82296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34840" y="4782312"/>
            <a:ext cx="64008" cy="822960"/>
          </a:xfrm>
          <a:prstGeom prst="rect">
            <a:avLst/>
          </a:prstGeom>
          <a:solidFill>
            <a:srgbClr val="B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489204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7FFF"/>
                </a:solidFill>
                <a:latin typeface="Calibri"/>
              </a:rPr>
              <a:t>Always Field First</a:t>
            </a:r>
            <a:endParaRPr sz="1200" b="1" i="0">
              <a:solidFill>
                <a:srgbClr val="B07FFF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71231" y="4892040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54.84% win rate fielding vs 43% batting — never bat first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434840" y="5715000"/>
            <a:ext cx="7406640" cy="82296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4840" y="5715000"/>
            <a:ext cx="64008" cy="8229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45152" y="582472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Data Drives Wins</a:t>
            </a:r>
            <a:endParaRPr sz="1200" b="1" i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571231" y="5824728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Composite scores, KPIs &amp; consistency now guide every decision</a:t>
            </a:r>
            <a:endParaRPr sz="1100" b="0" i="0">
              <a:solidFill>
                <a:srgbClr val="E8E8F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457200"/>
            <a:ext cx="5943600" cy="5943600"/>
          </a:xfrm>
          <a:prstGeom prst="ellipse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0" y="1097280"/>
            <a:ext cx="4663440" cy="4663440"/>
          </a:xfrm>
          <a:prstGeom prst="ellipse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00C9B1"/>
                </a:solidFill>
                <a:latin typeface="Arial Black" panose="020B0A04020102020204"/>
              </a:rPr>
              <a:t>THANK YOU</a:t>
            </a:r>
            <a:endParaRPr sz="58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0" y="3547872"/>
            <a:ext cx="67025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8E8F0"/>
                </a:solidFill>
                <a:latin typeface="Calibri"/>
              </a:rPr>
              <a:t>Royal Challengers Bangalore  ·  IPL Data Analysis &amp; Strategy Report</a:t>
            </a:r>
            <a:endParaRPr sz="1500" b="0" i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41605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A9AB8"/>
                </a:solidFill>
                <a:latin typeface="Calibri"/>
              </a:rPr>
              <a:t>Tushar Naha  ·  SQL Data Analysis Project  ·  2026</a:t>
            </a:r>
            <a:endParaRPr sz="1300" b="0" i="1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0" y="4736592"/>
            <a:ext cx="6702552" cy="6400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047488"/>
            <a:ext cx="2057400" cy="14173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63040" y="5047488"/>
            <a:ext cx="205740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5166360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B1"/>
                </a:solidFill>
                <a:latin typeface="Arial Black" panose="020B0A04020102020204"/>
              </a:rPr>
              <a:t>15</a:t>
            </a:r>
            <a:endParaRPr sz="2600" b="1" i="0">
              <a:solidFill>
                <a:srgbClr val="00C9B1"/>
              </a:solidFill>
              <a:latin typeface="Arial Black" panose="020B0A040201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576072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9AB8"/>
                </a:solidFill>
                <a:latin typeface="Calibri"/>
              </a:rPr>
              <a:t>Objective Queries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94760" y="5047488"/>
            <a:ext cx="2057400" cy="14173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94760" y="5047488"/>
            <a:ext cx="2057400" cy="6400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5166360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B700"/>
                </a:solidFill>
                <a:latin typeface="Arial Black" panose="020B0A04020102020204"/>
              </a:rPr>
              <a:t>10</a:t>
            </a:r>
            <a:endParaRPr sz="2600" b="1" i="0">
              <a:solidFill>
                <a:srgbClr val="FFB700"/>
              </a:solidFill>
              <a:latin typeface="Arial Black" panose="020B0A040201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94760" y="576072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9AB8"/>
                </a:solidFill>
                <a:latin typeface="Calibri"/>
              </a:rPr>
              <a:t>Subjective Queries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26479" y="5047488"/>
            <a:ext cx="2057400" cy="14173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79" y="5047488"/>
            <a:ext cx="2057400" cy="64008"/>
          </a:xfrm>
          <a:prstGeom prst="rect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5166360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CD97F"/>
                </a:solidFill>
                <a:latin typeface="Arial Black" panose="020B0A04020102020204"/>
              </a:rPr>
              <a:t>5</a:t>
            </a:r>
            <a:endParaRPr sz="2600" b="1" i="0">
              <a:solidFill>
                <a:srgbClr val="4CD97F"/>
              </a:solidFill>
              <a:latin typeface="Arial Black" panose="020B0A040201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79" y="576072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9AB8"/>
                </a:solidFill>
                <a:latin typeface="Calibri"/>
              </a:rPr>
              <a:t>Advanced KPIs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458200" y="5047488"/>
            <a:ext cx="2057400" cy="141732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58200" y="5047488"/>
            <a:ext cx="2057400" cy="64008"/>
          </a:xfrm>
          <a:prstGeom prst="rect">
            <a:avLst/>
          </a:prstGeom>
          <a:solidFill>
            <a:srgbClr val="B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5166360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07FFF"/>
                </a:solidFill>
                <a:latin typeface="Arial Black" panose="020B0A04020102020204"/>
              </a:rPr>
              <a:t>6</a:t>
            </a:r>
            <a:endParaRPr sz="2600" b="1" i="0">
              <a:solidFill>
                <a:srgbClr val="B07FFF"/>
              </a:solidFill>
              <a:latin typeface="Arial Black" panose="020B0A040201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58200" y="576072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9AB8"/>
                </a:solidFill>
                <a:latin typeface="Calibri"/>
              </a:rPr>
              <a:t>Auction Recs</a:t>
            </a:r>
            <a:endParaRPr sz="1000" b="0" i="0">
              <a:solidFill>
                <a:srgbClr val="9A9AB8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7194</Words>
  <Application>WPS Docs</Application>
  <PresentationFormat>On-screen Show (4:3)</PresentationFormat>
  <Paragraphs>874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Arial</vt:lpstr>
      <vt:lpstr>Arial Black</vt:lpstr>
      <vt:lpstr>Calibri</vt:lpstr>
      <vt:lpstr>Helvetica Neue</vt:lpstr>
      <vt:lpstr>Microsoft YaHei</vt:lpstr>
      <vt:lpstr>汉仪旗黑</vt:lpstr>
      <vt:lpstr>Arial Unicode MS</vt:lpstr>
      <vt:lpstr>Apple Color Emoji</vt:lpstr>
      <vt:lpstr>宋体-简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Tushar Naha</cp:lastModifiedBy>
  <cp:revision>3</cp:revision>
  <dcterms:created xsi:type="dcterms:W3CDTF">2026-06-04T10:37:30Z</dcterms:created>
  <dcterms:modified xsi:type="dcterms:W3CDTF">2026-06-04T10:37:30Z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D80FA390E46742B55555216A33372FA8_42</vt:lpwstr>
  </property>
  <property fmtid="{D5CDD505-2E9C-101B-9397-08002B2CF9AE}" pid="3" name="KSOProductBuildVer">
    <vt:lpwstr>1033-12.1.25897.25897</vt:lpwstr>
  </property>
</Properties>
</file>